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тарт" id="{3ff5f62d-fbf7-a6d7-333a-363aa3cd1628}">
          <p14:sldIdLst>
            <p14:sldId id="256"/>
            <p14:sldId id="257"/>
            <p14:sldId id="258"/>
            <p14:sldId id="259"/>
          </p14:sldIdLst>
        </p14:section>
        <p14:section name="L1 Физика" id="{a8f639b3-b06a-d978-0bb2-13d9e39a5c6e}">
          <p14:sldIdLst>
            <p14:sldId id="260"/>
            <p14:sldId id="261"/>
            <p14:sldId id="262"/>
            <p14:sldId id="263"/>
            <p14:sldId id="264"/>
          </p14:sldIdLst>
        </p14:section>
        <p14:section name="L2 Канальный" id="{ef2beb86-a534-d94d-f84b-4ee830fc24f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L3 Сетевой" id="{3ed27258-6362-3480-3dc1-2ec8c3130a10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L4 Транспорт" id="{5b6b2cba-f349-f9b4-16b7-c2eb936485ce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L7 Приложения" id="{50148c35-e065-9d1a-288d-fbd59776c0c9}">
          <p14:sldIdLst>
            <p14:sldId id="296"/>
            <p14:sldId id="297"/>
            <p14:sldId id="298"/>
          </p14:sldIdLst>
        </p14:section>
        <p14:section name="Картина целиком" id="{e49bb07f-4cc7-f1e4-a3d6-b399617ba2cb}">
          <p14:sldIdLst>
            <p14:sldId id="299"/>
            <p14:sldId id="300"/>
            <p14:sldId id="301"/>
          </p14:sldIdLst>
        </p14:section>
        <p14:section name="Наш проект" id="{bd91cb6e-ae9c-79ab-fd67-ce9899422398}">
          <p14:sldIdLst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Цель: не выучить OSI, а понять, почему каждый уровень появился. Каждый раз спрашиваем: какая проблема? Фото: коммутационный шкаф с патч-панелями.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причины. Третья — главная: у нас уже есть номер автономной системы в DN42, и мы реально построим провайдера.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главная мысль всей лекции. Повторять на каждом переходе между уровнями.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ступенек. Это и есть модель OSI (в упрощённом виде TCP/IP), но мы её не заучиваем, а проходим.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Фото: штекер RJ45 на витой паре.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простое: два компа и провод. Всё, что бежит по проводу — биты. Напряжение есть/нет, свет есть/нет.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слово «порт» встретится ещё раз в другом смысле на L4. Предупредить заранее, чтобы не путался.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среды. Wi-Fi и мобильный интернет — тоже L1, просто без провода. Хаб, повторитель и медиаконвертер тоже живут здесь.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«проблема масштаба». Формула n(n−1)/2. Отсюда — коробка в центре.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Фото: коммутатор Cisco Catalyst с патч-кордами.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Хаб — тупой повторитель. Он не знает ничего, просто копирует сигнал во все порты. Хабов уже почти нет, но понять их важно: это «коробка без адресов».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проблемы: приватность, коллизии, делёж скорости. Отсюда рождается необходимость сказать «кому» — то есть адреса.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— 48 бит, hex. Первые 3 байта — производитель, последние 3 — серийник. Уникален, но ничего не говорит о том, ГДЕ ты. Это важно для перехода к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Ethernet-кадр. Главное: MAC получателя, MAC отправителя, тип содержимого, данные, контрольная сумма. Единица L2 называется «кадр» (frame).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правила коммутатора. Это делает даже самый дешёвый свитч. Таблица MAC → порт — вся «магия».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по шагам: таблица пустая → flood → ответ → запомнил → дальше только адресно. Это можно показать в Packet Tracer в режиме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FF:FF:FF:FF:FF:FF — адрес «всем». Нужен для поиска: DHCP, ARP. Широковещательный домен — все, кто услышит крик. Цитата про три способа — из linkmeup.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Почему нельзя оставить всё на L2: плоские адреса, бесконечная таблица, крик на весь мир, петли. Отсюда — IP и маршрутизация.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Короткий слайд-шутка: варианты «один гигантский коммутатор» и «запомнить все MAC мира» — в окно. Остаётся иерархия адресов и маршрутизация.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Фото: маршрутизатор Cisco 2800. Самая важная часть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Аналогия: MAC — номер паспорта, IP — почтовый адрес. Почтальону не нужно знать все дома мира, достаточно знать направление.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Маска /24 означает: первые 24 бита — сеть. Приватные диапазоны — объяснение, почему дома всегда 192.168.x.x. Классов адресов больше нет — только маски.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Единственное решение, которое принимает твой комп: получатель в моей подсети или нет. Если нет — отдать шлюзу. Pikachu: типичная ошибка с неправильной подсетью.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Кадр доставляется по MAC, а я знаю только IP. ARP: крикнуть всем «кто 192.168.1.1?», получить ответ, запомнить в кэш.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Роутер = устройство с интерфейсами в разных подсетях. Смотрит на IP получателя, а не на MAC. Ограничивает широковещательный домен. Домашний «вайфай-роутер» — 4 устройства в одном.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строка — способ добраться до сети. C — подключена напрямую, S — статика, D/O — динамика. Самое точное совпадение побеждает. Default route = «всё остальное».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Longest prefix match. Пример из linkmeup: при наличии /16, /24 и /30 для адреса 172.16.10.5 выберут /30.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ВАЖНОЕ про роутеры. На каждом хопе кадр пересобирается с новыми MAC, а IP-пакет внутри остаётся тем же. Каждый роутер решает сам, ничего не зная о чужих таблицах.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«Лифт ми Ап» из linkmeup: Москва, Питер, Кемерово. Суммирование: 8 строк в одну. Не масштабируется — отсюда динамическая маршрутизация.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Пакет дошёл, а ответ — нет. Маршрут нужен в обе стороны. Это домашнее задание из linkmeup: почему не пингуются устройства из сети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Цитата-анекдот из linkmeup. Каждый роутер уменьшает TTL на 1. На 0 — выбрасывают. traceroute использует это: TTL=1, 2, 3…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OSPF внутри организации, BGP между провайдерами. Это и будет содержание нашего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Автономные системы и BGP. Наш AS в DN42 — это такая же AS, просто в учебной копии интернета.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 реального железа: дата-центровый коммутатор, точка обмена трафиком DE-CIX во Франкфурте, оптические патч-панели AMS-IX.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Фото: Wireshark — программа, в которой всё это видно глазами.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— дом, порт — квартира. Порт здесь — число в заголовке TCP/UDP, не дырка. Spider-Man: два смысла одного слова.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effort. Пакет может потеряться, продублироваться, прийти не по порядку, побиться. Нужен уровень, который это чинит.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Нумерация, подтверждения, перепосылка, порядок, окно. Тройное рукопожатие — SYN, SYN-ACK, ACK. Показать в Wireshark.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UDP — для звонков, игр, стримов, DNS. Лучше потерять кадр видео, чем ждать перепосылку. Шутки про TCP/UDP — классика.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Белых IPv4 всего 4 миллиарда. Роутер подменяет адрес и порт отправителя и помнит, кому вернуть ответ. Поэтому снаружи в твой комп не зайти и нужен проброс портов.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Фото: карта интернета (Opte Project).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Телефонная книга интернета. UDP/53. Симптом «ping идёт, сайты не открываются» — DNS.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шагов одного клика. Каждый — на своём уровне. Пройти вслух, показывая, где какой слайд был.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Сводная таблица — это и есть модель. OSI и TCP/IP — две модели одного и того 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уровень добавляет свой заголовок при отправке и снимает при приёме. Коммутатор смотрит на MAC, роутер — на IP, ОС — на порт, браузер — на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один не появился от скуки. Каждый — патч под конкретную дыру. Это и есть ответ на «почему всё так сложно».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DN42 — сеть энтузиастов с настоящими BGP, AS и адресами. Наш AS 4242421527 (NEBOTOV-MNT). Дорожная карта из четырёх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задания на 30 минут. Главное — открыть Wireshark и увидеть ARP и ICMP своими глазами.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 Ссылки: linkmeup SDSM, NetAcad, dn42.dev, наш репозиторий.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Благодарности и лицензии.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74520"/>
            <a:ext cx="5577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0332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577840"/>
            <a:ext cx="5486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58521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585216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98348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Сети без магии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hoto frame"/>
          <p:cNvSpPr/>
          <p:nvPr/>
        </p:nvSpPr>
        <p:spPr>
          <a:xfrm>
            <a:off x="6310874" y="0"/>
            <a:ext cx="5879306" cy="6858000"/>
          </a:xfrm>
          <a:prstGeom prst="roundRect">
            <a:avLst>
              <a:gd name="adj" fmla="val 1555"/>
            </a:avLst>
          </a:prstGeom>
          <a:solidFill>
            <a:srgbClr val="0B1220"/>
          </a:solidFill>
          <a:ln/>
        </p:spPr>
      </p:sp>
      <p:pic>
        <p:nvPicPr>
          <p:cNvPr id="3" name="title photo" descr="/tmp/claude-0/-home-user-isp/fa3229ae-4615-5662-80eb-d4b94fff89c7/scratchpad/photos_crop/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874" y="0"/>
            <a:ext cx="5879306" cy="6858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body" hasCustomPrompt="1"/>
          </p:nvPr>
        </p:nvSpPr>
        <p:spPr>
          <a:xfrm>
            <a:off x="64008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ЛЕКЦИЯ ДЛЯ ОДНОГО КОРЕША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40080" y="187452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Сети без магии</a:t>
            </a:r>
            <a:endParaRPr lang="en-US" sz="5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640080" y="3703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От двух железок до интернета: почему каждый протокол реально нужен</a:t>
            </a:r>
            <a:endParaRPr lang="en-US" sz="20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640080" y="5577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 мотивам «Сетей для самых маленьких» (linkmeup) · В дополнение к Cisco Networking Basics, модуль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Зачем тебе это вообще</a:t>
            </a:r>
            <a:endParaRPr lang="en-US" sz="3000" dirty="0"/>
          </a:p>
        </p:txBody>
      </p:sp>
      <p:sp>
        <p:nvSpPr>
          <p:cNvPr id="4" name="led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1024128" y="1554480"/>
            <a:ext cx="6108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Понимать, что происходит, когда ты открываешь YouTube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 не «ну оно как-то работает». Клик → DNS → ARP → кадр → роутер → провайдер → сервер. Всё это можно увидеть глазами.</a:t>
            </a:r>
            <a:endParaRPr lang="en-US" sz="1400" dirty="0"/>
          </a:p>
        </p:txBody>
      </p:sp>
      <p:sp>
        <p:nvSpPr>
          <p:cNvPr id="6" name="led"/>
          <p:cNvSpPr/>
          <p:nvPr/>
        </p:nvSpPr>
        <p:spPr>
          <a:xfrm>
            <a:off x="548640" y="288036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"/>
          <p:cNvSpPr txBox="1"/>
          <p:nvPr/>
        </p:nvSpPr>
        <p:spPr>
          <a:xfrm>
            <a:off x="1024128" y="2834640"/>
            <a:ext cx="6108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Перестать бояться слов «порт», «маска», «шлюз», «MAC»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Это простые вещи с плохими названиями. К концу лекции ты будешь объяснять их сам.</a:t>
            </a:r>
            <a:endParaRPr lang="en-US" sz="1400" dirty="0"/>
          </a:p>
        </p:txBody>
      </p:sp>
      <p:sp>
        <p:nvSpPr>
          <p:cNvPr id="8" name="led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1024128" y="4114800"/>
            <a:ext cx="6108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Построить свой интернет-провайдер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Не метафора: у нас уже есть автономная система AS4242421527 в сети DN42. Роутеры, BGP, туннели, свой DNS — всё по-настоящему, только в песочнице.</a:t>
            </a:r>
            <a:endParaRPr lang="en-US" sz="1400" dirty="0"/>
          </a:p>
        </p:txBody>
      </p:sp>
      <p:sp>
        <p:nvSpPr>
          <p:cNvPr id="10" name="meme drake frame"/>
          <p:cNvSpPr/>
          <p:nvPr/>
        </p:nvSpPr>
        <p:spPr>
          <a:xfrm>
            <a:off x="7516368" y="1664208"/>
            <a:ext cx="4261104" cy="4261104"/>
          </a:xfrm>
          <a:prstGeom prst="roundRect">
            <a:avLst>
              <a:gd name="adj" fmla="val 2146"/>
            </a:avLst>
          </a:prstGeom>
          <a:solidFill>
            <a:srgbClr val="1E2A44"/>
          </a:solidFill>
          <a:ln/>
        </p:spPr>
      </p:sp>
      <p:pic>
        <p:nvPicPr>
          <p:cNvPr id="11" name="meme drake" descr="/tmp/claude-0/-home-user-isp/fa3229ae-4615-5662-80eb-d4b94fff89c7/scratchpad/memes_out/dr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737360"/>
            <a:ext cx="411480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Правило игры на сегодня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6766560" cy="1737360"/>
          </a:xfrm>
          <a:prstGeom prst="roundRect">
            <a:avLst>
              <a:gd name="adj" fmla="val 6316"/>
            </a:avLst>
          </a:prstGeom>
          <a:solidFill>
            <a:srgbClr val="1A2238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822960" y="16002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Каждая новая штука в сетях появляется только потому, что без неё что-то ломается.</a:t>
            </a:r>
            <a:endParaRPr lang="en-US" sz="2400" dirty="0"/>
          </a:p>
        </p:txBody>
      </p:sp>
      <p:sp>
        <p:nvSpPr>
          <p:cNvPr id="6" name="chip Железка"/>
          <p:cNvSpPr/>
          <p:nvPr/>
        </p:nvSpPr>
        <p:spPr>
          <a:xfrm>
            <a:off x="548640" y="35661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/>
        </p:spPr>
      </p:sp>
      <p:sp>
        <p:nvSpPr>
          <p:cNvPr id="7" name="chip label"/>
          <p:cNvSpPr txBox="1"/>
          <p:nvPr/>
        </p:nvSpPr>
        <p:spPr>
          <a:xfrm>
            <a:off x="54864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6A6"/>
                </a:solidFill>
              </a:rPr>
              <a:t>Железка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1755648" y="3794760"/>
            <a:ext cx="164592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9" name="chip Проблема"/>
          <p:cNvSpPr/>
          <p:nvPr/>
        </p:nvSpPr>
        <p:spPr>
          <a:xfrm>
            <a:off x="1938528" y="35661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938528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</a:rPr>
              <a:t>Проблема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3145536" y="3794760"/>
            <a:ext cx="164592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12" name="chip Решение"/>
          <p:cNvSpPr/>
          <p:nvPr/>
        </p:nvSpPr>
        <p:spPr>
          <a:xfrm>
            <a:off x="3328416" y="35661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/>
        </p:spPr>
      </p:sp>
      <p:sp>
        <p:nvSpPr>
          <p:cNvPr id="13" name="chip label"/>
          <p:cNvSpPr txBox="1"/>
          <p:nvPr/>
        </p:nvSpPr>
        <p:spPr>
          <a:xfrm>
            <a:off x="3328416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A9FF"/>
                </a:solidFill>
              </a:rPr>
              <a:t>Решение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4535424" y="3794760"/>
            <a:ext cx="164592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15" name="chip Новая проблема"/>
          <p:cNvSpPr/>
          <p:nvPr/>
        </p:nvSpPr>
        <p:spPr>
          <a:xfrm>
            <a:off x="4718304" y="35661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/>
        </p:spPr>
      </p:sp>
      <p:sp>
        <p:nvSpPr>
          <p:cNvPr id="16" name="chip label"/>
          <p:cNvSpPr txBox="1"/>
          <p:nvPr/>
        </p:nvSpPr>
        <p:spPr>
          <a:xfrm>
            <a:off x="4718304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</a:rPr>
              <a:t>Новая проблема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5925312" y="3794760"/>
            <a:ext cx="164592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18" name="chip …"/>
          <p:cNvSpPr/>
          <p:nvPr/>
        </p:nvSpPr>
        <p:spPr>
          <a:xfrm>
            <a:off x="6108192" y="35661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/>
        </p:spPr>
      </p:sp>
      <p:sp>
        <p:nvSpPr>
          <p:cNvPr id="19" name="chip label"/>
          <p:cNvSpPr txBox="1"/>
          <p:nvPr/>
        </p:nvSpPr>
        <p:spPr>
          <a:xfrm>
            <a:off x="6108192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4C6"/>
                </a:solidFill>
              </a:rPr>
              <a:t>…</a:t>
            </a:r>
            <a:endParaRPr lang="en-US" sz="1200" dirty="0"/>
          </a:p>
        </p:txBody>
      </p:sp>
      <p:sp>
        <p:nvSpPr>
          <p:cNvPr id="20" name="bullets"/>
          <p:cNvSpPr txBox="1"/>
          <p:nvPr/>
        </p:nvSpPr>
        <p:spPr>
          <a:xfrm>
            <a:off x="548640" y="43434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Начинаем буквально с двух железок и одного провода.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На каждом шаге спрашиваем: «а что, если железок станет больше?»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Так, снизу вверх, мы и соберём всю «модель OSI» — но ногами, а не зазубриванием.</a:t>
            </a:r>
            <a:endParaRPr lang="en-US" sz="1500" dirty="0"/>
          </a:p>
        </p:txBody>
      </p:sp>
      <p:sp>
        <p:nvSpPr>
          <p:cNvPr id="21" name="meme changemind frame"/>
          <p:cNvSpPr/>
          <p:nvPr/>
        </p:nvSpPr>
        <p:spPr>
          <a:xfrm>
            <a:off x="7516368" y="2136267"/>
            <a:ext cx="4261104" cy="3225546"/>
          </a:xfrm>
          <a:prstGeom prst="roundRect">
            <a:avLst>
              <a:gd name="adj" fmla="val 2835"/>
            </a:avLst>
          </a:prstGeom>
          <a:solidFill>
            <a:srgbClr val="1E2A44"/>
          </a:solidFill>
          <a:ln/>
        </p:spPr>
      </p:sp>
      <p:pic>
        <p:nvPicPr>
          <p:cNvPr id="22" name="meme changemind" descr="/tmp/claude-0/-home-user-isp/fa3229ae-4615-5662-80eb-d4b94fff89c7/scratchpad/memes_out/changemi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209419"/>
            <a:ext cx="4114800" cy="30792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Маршрут лекции: снизу вверх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512064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62238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731520" y="5230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</a:rPr>
              <a:t>L1</a:t>
            </a:r>
            <a:endParaRPr lang="en-US" sz="2600" dirty="0"/>
          </a:p>
        </p:txBody>
      </p:sp>
      <p:sp>
        <p:nvSpPr>
          <p:cNvPr id="6" name="text"/>
          <p:cNvSpPr txBox="1"/>
          <p:nvPr/>
        </p:nvSpPr>
        <p:spPr>
          <a:xfrm>
            <a:off x="731520" y="5687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Провода и биты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731520" y="6035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физический уровень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2788920" y="4251960"/>
            <a:ext cx="2103120" cy="1874520"/>
          </a:xfrm>
          <a:prstGeom prst="roundRect">
            <a:avLst>
              <a:gd name="adj" fmla="val 5854"/>
            </a:avLst>
          </a:prstGeom>
          <a:solidFill>
            <a:srgbClr val="162238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2971800" y="4361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E6A6"/>
                </a:solidFill>
              </a:rPr>
              <a:t>L2</a:t>
            </a:r>
            <a:endParaRPr lang="en-US" sz="2600" dirty="0"/>
          </a:p>
        </p:txBody>
      </p:sp>
      <p:sp>
        <p:nvSpPr>
          <p:cNvPr id="10" name="text"/>
          <p:cNvSpPr txBox="1"/>
          <p:nvPr/>
        </p:nvSpPr>
        <p:spPr>
          <a:xfrm>
            <a:off x="2971800" y="4818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Коммутатор и MAC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2971800" y="5166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канальный уровень</a:t>
            </a:r>
            <a:endParaRPr lang="en-US" sz="1000" dirty="0"/>
          </a:p>
        </p:txBody>
      </p:sp>
      <p:sp>
        <p:nvSpPr>
          <p:cNvPr id="12" name="card"/>
          <p:cNvSpPr/>
          <p:nvPr/>
        </p:nvSpPr>
        <p:spPr>
          <a:xfrm>
            <a:off x="5029200" y="33832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5212080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AA9FF"/>
                </a:solidFill>
              </a:rPr>
              <a:t>L3</a:t>
            </a:r>
            <a:endParaRPr lang="en-US" sz="2600" dirty="0"/>
          </a:p>
        </p:txBody>
      </p:sp>
      <p:sp>
        <p:nvSpPr>
          <p:cNvPr id="14" name="text"/>
          <p:cNvSpPr txBox="1"/>
          <p:nvPr/>
        </p:nvSpPr>
        <p:spPr>
          <a:xfrm>
            <a:off x="5212080" y="3950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 и маршрутизатор</a:t>
            </a:r>
            <a:endParaRPr lang="en-US" sz="1300" dirty="0"/>
          </a:p>
        </p:txBody>
      </p:sp>
      <p:sp>
        <p:nvSpPr>
          <p:cNvPr id="15" name="text"/>
          <p:cNvSpPr txBox="1"/>
          <p:nvPr/>
        </p:nvSpPr>
        <p:spPr>
          <a:xfrm>
            <a:off x="5212080" y="4297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сетевой уровень</a:t>
            </a:r>
            <a:endParaRPr lang="en-US" sz="1000" dirty="0"/>
          </a:p>
        </p:txBody>
      </p:sp>
      <p:sp>
        <p:nvSpPr>
          <p:cNvPr id="16" name="card"/>
          <p:cNvSpPr/>
          <p:nvPr/>
        </p:nvSpPr>
        <p:spPr>
          <a:xfrm>
            <a:off x="7269480" y="2514600"/>
            <a:ext cx="2103120" cy="361188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7452360" y="2624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388FF"/>
                </a:solidFill>
              </a:rPr>
              <a:t>L4</a:t>
            </a:r>
            <a:endParaRPr lang="en-US" sz="2600" dirty="0"/>
          </a:p>
        </p:txBody>
      </p:sp>
      <p:sp>
        <p:nvSpPr>
          <p:cNvPr id="18" name="text"/>
          <p:cNvSpPr txBox="1"/>
          <p:nvPr/>
        </p:nvSpPr>
        <p:spPr>
          <a:xfrm>
            <a:off x="745236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Порты, TCP и UDP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745236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транспортный уровень</a:t>
            </a:r>
            <a:endParaRPr lang="en-US" sz="1000" dirty="0"/>
          </a:p>
        </p:txBody>
      </p:sp>
      <p:sp>
        <p:nvSpPr>
          <p:cNvPr id="20" name="card"/>
          <p:cNvSpPr/>
          <p:nvPr/>
        </p:nvSpPr>
        <p:spPr>
          <a:xfrm>
            <a:off x="9509760" y="1645920"/>
            <a:ext cx="2103120" cy="448056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21" name="text"/>
          <p:cNvSpPr txBox="1"/>
          <p:nvPr/>
        </p:nvSpPr>
        <p:spPr>
          <a:xfrm>
            <a:off x="9692640" y="1755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8A3D"/>
                </a:solidFill>
              </a:rPr>
              <a:t>L7</a:t>
            </a:r>
            <a:endParaRPr lang="en-US" sz="2600" dirty="0"/>
          </a:p>
        </p:txBody>
      </p:sp>
      <p:sp>
        <p:nvSpPr>
          <p:cNvPr id="22" name="text"/>
          <p:cNvSpPr txBox="1"/>
          <p:nvPr/>
        </p:nvSpPr>
        <p:spPr>
          <a:xfrm>
            <a:off x="9692640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DNS и HTTP</a:t>
            </a:r>
            <a:endParaRPr lang="en-US" sz="1300" dirty="0"/>
          </a:p>
        </p:txBody>
      </p:sp>
      <p:sp>
        <p:nvSpPr>
          <p:cNvPr id="23" name="text"/>
          <p:cNvSpPr txBox="1"/>
          <p:nvPr/>
        </p:nvSpPr>
        <p:spPr>
          <a:xfrm>
            <a:off x="96926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прикладной уровень: то, что видишь</a:t>
            </a:r>
            <a:endParaRPr lang="en-US" sz="1000" dirty="0"/>
          </a:p>
        </p:txBody>
      </p:sp>
      <p:sp>
        <p:nvSpPr>
          <p:cNvPr id="24" name="text"/>
          <p:cNvSpPr txBox="1"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Каждая ступенька — ответ на вопрос «а что ломается на предыдущей?»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L1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Физический уровень: две железки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Провода, свет, радио — и биты. Никаких адресов, никакого «кому».</a:t>
            </a:r>
            <a:endParaRPr lang="en-US" sz="1800" dirty="0"/>
          </a:p>
        </p:txBody>
      </p:sp>
      <p:sp>
        <p:nvSpPr>
          <p:cNvPr id="5" name="section photo frame"/>
          <p:cNvSpPr/>
          <p:nvPr/>
        </p:nvSpPr>
        <p:spPr>
          <a:xfrm>
            <a:off x="6786753" y="795528"/>
            <a:ext cx="5080254" cy="5266944"/>
          </a:xfrm>
          <a:prstGeom prst="roundRect">
            <a:avLst>
              <a:gd name="adj" fmla="val 1800"/>
            </a:avLst>
          </a:prstGeom>
          <a:solidFill>
            <a:srgbClr val="0B1220"/>
          </a:solidFill>
          <a:ln/>
        </p:spPr>
      </p:sp>
      <p:pic>
        <p:nvPicPr>
          <p:cNvPr id="6" name="section photo" descr="/tmp/claude-0/-home-user-isp/fa3229ae-4615-5662-80eb-d4b94fff89c7/scratchpad/photos_crop/sec_l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905" y="868680"/>
            <a:ext cx="493395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Есть две железки. Как передать данные?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c Железка А"/>
          <p:cNvSpPr/>
          <p:nvPr/>
        </p:nvSpPr>
        <p:spPr>
          <a:xfrm>
            <a:off x="914400" y="201168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5" name="pc icon"/>
          <p:cNvSpPr txBox="1"/>
          <p:nvPr/>
        </p:nvSpPr>
        <p:spPr>
          <a:xfrm>
            <a:off x="914400" y="20299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6" name="text"/>
          <p:cNvSpPr txBox="1"/>
          <p:nvPr/>
        </p:nvSpPr>
        <p:spPr>
          <a:xfrm>
            <a:off x="640080" y="26151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Железка А</a:t>
            </a:r>
            <a:endParaRPr lang="en-US" sz="1100" dirty="0"/>
          </a:p>
        </p:txBody>
      </p:sp>
      <p:sp>
        <p:nvSpPr>
          <p:cNvPr id="17" name="pc Железка Б"/>
          <p:cNvSpPr/>
          <p:nvPr/>
        </p:nvSpPr>
        <p:spPr>
          <a:xfrm>
            <a:off x="4846320" y="201168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8" name="pc icon"/>
          <p:cNvSpPr txBox="1"/>
          <p:nvPr/>
        </p:nvSpPr>
        <p:spPr>
          <a:xfrm>
            <a:off x="4846320" y="20299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9" name="text"/>
          <p:cNvSpPr txBox="1"/>
          <p:nvPr/>
        </p:nvSpPr>
        <p:spPr>
          <a:xfrm>
            <a:off x="4572000" y="26151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Железка Б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1920240" y="2295144"/>
            <a:ext cx="2926080" cy="0"/>
          </a:xfrm>
          <a:prstGeom prst="line">
            <a:avLst/>
          </a:prstGeom>
          <a:noFill/>
          <a:ln w="38100">
            <a:solidFill>
              <a:srgbClr val="FFB020"/>
            </a:solidFill>
            <a:prstDash val="solid"/>
            <a:headEnd type="triangle"/>
            <a:tailEnd type="triangle"/>
          </a:ln>
        </p:spPr>
      </p:sp>
      <p:sp>
        <p:nvSpPr>
          <p:cNvPr id="21" name="text"/>
          <p:cNvSpPr txBox="1"/>
          <p:nvPr/>
        </p:nvSpPr>
        <p:spPr>
          <a:xfrm>
            <a:off x="192024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1 0 1 1 0 0 1 0 1 1 1 0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1920240" y="2395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медь · стекло · радио</a:t>
            </a:r>
            <a:endParaRPr lang="en-US" sz="1100" dirty="0"/>
          </a:p>
        </p:txBody>
      </p:sp>
      <p:sp>
        <p:nvSpPr>
          <p:cNvPr id="23" name="bullets"/>
          <p:cNvSpPr txBox="1"/>
          <p:nvPr/>
        </p:nvSpPr>
        <p:spPr>
          <a:xfrm>
            <a:off x="548640" y="338328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Нужна среда.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По меди бежит электричество, по стеклу — свет, по воздуху — радио (Wi-Fi — это тоже сюда).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Передаются только биты.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Нули и единицы: напряжение есть / нет, свет есть / нет. Всё, что ты видишь на экране, в итоге превращается в это.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Никакого «кому».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На этом уровне нет адресов. Только «сигнал есть» / «сигнала нет». Пока железок две — больше ничего и не нужно.</a:t>
            </a:r>
            <a:endParaRPr lang="en-US" sz="1500" dirty="0"/>
          </a:p>
        </p:txBody>
      </p:sp>
      <p:sp>
        <p:nvSpPr>
          <p:cNvPr id="24" name="photo utp_sq.jpg frame"/>
          <p:cNvSpPr/>
          <p:nvPr/>
        </p:nvSpPr>
        <p:spPr>
          <a:xfrm>
            <a:off x="7516368" y="1389888"/>
            <a:ext cx="4261104" cy="4261104"/>
          </a:xfrm>
          <a:prstGeom prst="roundRect">
            <a:avLst>
              <a:gd name="adj" fmla="val 2146"/>
            </a:avLst>
          </a:prstGeom>
          <a:solidFill>
            <a:srgbClr val="162238"/>
          </a:solidFill>
          <a:ln/>
        </p:spPr>
      </p:sp>
      <p:pic>
        <p:nvPicPr>
          <p:cNvPr id="25" name="photo utp_sq.jpg" descr="/tmp/claude-0/-home-user-isp/fa3229ae-4615-5662-80eb-d4b94fff89c7/scratchpad/photos_crop/utp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463040"/>
            <a:ext cx="4114800" cy="4114800"/>
          </a:xfrm>
          <a:prstGeom prst="rect">
            <a:avLst/>
          </a:prstGeom>
        </p:spPr>
      </p:pic>
      <p:sp>
        <p:nvSpPr>
          <p:cNvPr id="26" name="caption"/>
          <p:cNvSpPr txBox="1"/>
          <p:nvPr/>
        </p:nvSpPr>
        <p:spPr>
          <a:xfrm>
            <a:off x="7516368" y="5687568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Витая пара со штекером RJ45 — самый обычный «провод от интернета»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такое порт (пока что — физический)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hoto laptop_port.jpg frame"/>
          <p:cNvSpPr/>
          <p:nvPr/>
        </p:nvSpPr>
        <p:spPr>
          <a:xfrm>
            <a:off x="803578" y="1389888"/>
            <a:ext cx="4610765" cy="2980944"/>
          </a:xfrm>
          <a:prstGeom prst="roundRect">
            <a:avLst>
              <a:gd name="adj" fmla="val 3067"/>
            </a:avLst>
          </a:prstGeom>
          <a:solidFill>
            <a:srgbClr val="162238"/>
          </a:solidFill>
          <a:ln/>
        </p:spPr>
      </p:sp>
      <p:pic>
        <p:nvPicPr>
          <p:cNvPr id="15" name="photo laptop_port.jpg" descr="/tmp/claude-0/-home-user-isp/fa3229ae-4615-5662-80eb-d4b94fff89c7/scratchpad/photos_crop/laptop_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730" y="1463040"/>
            <a:ext cx="4464461" cy="2834640"/>
          </a:xfrm>
          <a:prstGeom prst="rect">
            <a:avLst/>
          </a:prstGeom>
        </p:spPr>
      </p:pic>
      <p:sp>
        <p:nvSpPr>
          <p:cNvPr id="16" name="caption"/>
          <p:cNvSpPr txBox="1"/>
          <p:nvPr/>
        </p:nvSpPr>
        <p:spPr>
          <a:xfrm>
            <a:off x="803578" y="4407408"/>
            <a:ext cx="4610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Разъём RJ45 на ноутбуке (рядом DisplayPort и USB)</a:t>
            </a:r>
            <a:endParaRPr lang="en-US" sz="1000" dirty="0"/>
          </a:p>
        </p:txBody>
      </p:sp>
      <p:sp>
        <p:nvSpPr>
          <p:cNvPr id="17" name="photo rj45.jpg frame"/>
          <p:cNvSpPr/>
          <p:nvPr/>
        </p:nvSpPr>
        <p:spPr>
          <a:xfrm>
            <a:off x="715518" y="4818888"/>
            <a:ext cx="1860804" cy="1517904"/>
          </a:xfrm>
          <a:prstGeom prst="roundRect">
            <a:avLst>
              <a:gd name="adj" fmla="val 6024"/>
            </a:avLst>
          </a:prstGeom>
          <a:solidFill>
            <a:srgbClr val="162238"/>
          </a:solidFill>
          <a:ln/>
        </p:spPr>
      </p:sp>
      <p:pic>
        <p:nvPicPr>
          <p:cNvPr id="18" name="photo rj45.jpg" descr="/tmp/claude-0/-home-user-isp/fa3229ae-4615-5662-80eb-d4b94fff89c7/scratchpad/photos/rj4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4892040"/>
            <a:ext cx="1714500" cy="1371600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2926080" y="4983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Патч-корд: с обеих сторон одинаковые штекеры. Один кабель = два порта = одна связь.</a:t>
            </a:r>
            <a:endParaRPr lang="en-US" sz="1200" dirty="0"/>
          </a:p>
        </p:txBody>
      </p:sp>
      <p:sp>
        <p:nvSpPr>
          <p:cNvPr id="20" name="bullets"/>
          <p:cNvSpPr txBox="1"/>
          <p:nvPr/>
        </p:nvSpPr>
        <p:spPr>
          <a:xfrm>
            <a:off x="6126480" y="14630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Порт — это разъём,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куда втыкается кабель. На ноуте он один, у коммутатора — 8, 24 или 48. Это просто дырки, ничего умного.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RJ45 —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тот самый прозрачный штекер с 8 контактами. Внутри кабеля 4 пары скрученных проводков, поэтому «витая пара».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Порт горит зелёным —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значит, с той стороны кто-то есть и сигнал ходит. Мигает — идут данные. Это и есть вся «диагностика» L1.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6126480" y="484632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2A1A22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355080" y="4846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Запомни: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слово «порт» мы встретим ещё раз, в совершенно другом смысле — на уровне L4 (порт 443, порт 22). Там это число, а не дырка.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L1 — это только сигнал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62238"/>
          </a:solidFill>
          <a:ln/>
        </p:spPr>
      </p:sp>
      <p:sp>
        <p:nvSpPr>
          <p:cNvPr id="15" name="photo Медь frame"/>
          <p:cNvSpPr/>
          <p:nvPr/>
        </p:nvSpPr>
        <p:spPr>
          <a:xfrm>
            <a:off x="1207008" y="1572768"/>
            <a:ext cx="2249424" cy="2249424"/>
          </a:xfrm>
          <a:prstGeom prst="roundRect">
            <a:avLst>
              <a:gd name="adj" fmla="val 4065"/>
            </a:avLst>
          </a:prstGeom>
          <a:solidFill>
            <a:srgbClr val="0B1220"/>
          </a:solidFill>
          <a:ln/>
        </p:spPr>
      </p:sp>
      <p:pic>
        <p:nvPicPr>
          <p:cNvPr id="16" name="photo Медь" descr="/tmp/claude-0/-home-user-isp/fa3229ae-4615-5662-80eb-d4b94fff89c7/scratchpad/photos_crop/utp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45920"/>
            <a:ext cx="2103120" cy="21031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77724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</a:rPr>
              <a:t>Медь</a:t>
            </a:r>
            <a:endParaRPr lang="en-US" sz="2000" dirty="0"/>
          </a:p>
        </p:txBody>
      </p:sp>
      <p:sp>
        <p:nvSpPr>
          <p:cNvPr id="18" name="text"/>
          <p:cNvSpPr txBox="1"/>
          <p:nvPr/>
        </p:nvSpPr>
        <p:spPr>
          <a:xfrm>
            <a:off x="777240" y="4297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Витая пара. До 100 метров, 1–10 Гбит/с. Дёшево, везде, в каждой квартире.</a:t>
            </a:r>
            <a:endParaRPr lang="en-US" sz="1250" dirty="0"/>
          </a:p>
        </p:txBody>
      </p:sp>
      <p:sp>
        <p:nvSpPr>
          <p:cNvPr id="19" name="card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62238"/>
          </a:solidFill>
          <a:ln/>
        </p:spPr>
      </p:sp>
      <p:sp>
        <p:nvSpPr>
          <p:cNvPr id="20" name="photo Стекло frame"/>
          <p:cNvSpPr/>
          <p:nvPr/>
        </p:nvSpPr>
        <p:spPr>
          <a:xfrm>
            <a:off x="4956048" y="1572768"/>
            <a:ext cx="2249424" cy="2249424"/>
          </a:xfrm>
          <a:prstGeom prst="roundRect">
            <a:avLst>
              <a:gd name="adj" fmla="val 4065"/>
            </a:avLst>
          </a:prstGeom>
          <a:solidFill>
            <a:srgbClr val="0B1220"/>
          </a:solidFill>
          <a:ln/>
        </p:spPr>
      </p:sp>
      <p:pic>
        <p:nvPicPr>
          <p:cNvPr id="21" name="photo Стекло" descr="/tmp/claude-0/-home-user-isp/fa3229ae-4615-5662-80eb-d4b94fff89c7/scratchpad/photos_crop/fiber_sq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2103120" cy="2103120"/>
          </a:xfrm>
          <a:prstGeom prst="rect">
            <a:avLst/>
          </a:prstGeom>
        </p:spPr>
      </p:pic>
      <p:sp>
        <p:nvSpPr>
          <p:cNvPr id="22" name="text"/>
          <p:cNvSpPr txBox="1"/>
          <p:nvPr/>
        </p:nvSpPr>
        <p:spPr>
          <a:xfrm>
            <a:off x="452628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A9FF"/>
                </a:solidFill>
              </a:rPr>
              <a:t>Стекло</a:t>
            </a:r>
            <a:endParaRPr lang="en-US" sz="2000" dirty="0"/>
          </a:p>
        </p:txBody>
      </p:sp>
      <p:sp>
        <p:nvSpPr>
          <p:cNvPr id="23" name="text"/>
          <p:cNvSpPr txBox="1"/>
          <p:nvPr/>
        </p:nvSpPr>
        <p:spPr>
          <a:xfrm>
            <a:off x="4526280" y="4297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Оптика: свет в стеклянном волокне. Десятки километров без усиления, 10–400 Гбит/с. Между городами и континентами.</a:t>
            </a:r>
            <a:endParaRPr lang="en-US" sz="1250" dirty="0"/>
          </a:p>
        </p:txBody>
      </p:sp>
      <p:sp>
        <p:nvSpPr>
          <p:cNvPr id="24" name="card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62238"/>
          </a:solidFill>
          <a:ln/>
        </p:spPr>
      </p:sp>
      <p:sp>
        <p:nvSpPr>
          <p:cNvPr id="25" name="photo Радио frame"/>
          <p:cNvSpPr/>
          <p:nvPr/>
        </p:nvSpPr>
        <p:spPr>
          <a:xfrm>
            <a:off x="8705088" y="1572768"/>
            <a:ext cx="2249424" cy="2249424"/>
          </a:xfrm>
          <a:prstGeom prst="roundRect">
            <a:avLst>
              <a:gd name="adj" fmla="val 4065"/>
            </a:avLst>
          </a:prstGeom>
          <a:solidFill>
            <a:srgbClr val="0B1220"/>
          </a:solidFill>
          <a:ln/>
        </p:spPr>
      </p:sp>
      <p:pic>
        <p:nvPicPr>
          <p:cNvPr id="26" name="photo Радио" descr="/tmp/claude-0/-home-user-isp/fa3229ae-4615-5662-80eb-d4b94fff89c7/scratchpad/photos_crop/home_router_sq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645920"/>
            <a:ext cx="2103120" cy="210312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827532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388FF"/>
                </a:solidFill>
              </a:rPr>
              <a:t>Радио</a:t>
            </a:r>
            <a:endParaRPr lang="en-US" sz="2000" dirty="0"/>
          </a:p>
        </p:txBody>
      </p:sp>
      <p:sp>
        <p:nvSpPr>
          <p:cNvPr id="28" name="text"/>
          <p:cNvSpPr txBox="1"/>
          <p:nvPr/>
        </p:nvSpPr>
        <p:spPr>
          <a:xfrm>
            <a:off x="8275320" y="4297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Wi-Fi, 4G/5G, Bluetooth. Тот же L1, просто без провода — и с общей «средой» для всех соседей.</a:t>
            </a:r>
            <a:endParaRPr lang="en-US" sz="1250" dirty="0"/>
          </a:p>
        </p:txBody>
      </p:sp>
      <p:sp>
        <p:nvSpPr>
          <p:cNvPr id="29" name="card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30" name="text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Кстати: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хаб, повторитель, медиаконвертер (медь → стекло) — тоже L1. Они не понимают, что передают, просто усиливают или переносят сигнал.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А если железок не две, а пятьдесят?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text"/>
          <p:cNvSpPr txBox="1"/>
          <p:nvPr/>
        </p:nvSpPr>
        <p:spPr>
          <a:xfrm>
            <a:off x="548640" y="1463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E6A6"/>
                </a:solidFill>
              </a:rPr>
              <a:t>1</a:t>
            </a:r>
            <a:endParaRPr lang="en-US" sz="4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кабель на 2 железки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2743200" y="1463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</a:rPr>
              <a:t>10</a:t>
            </a:r>
            <a:endParaRPr lang="en-US" sz="4400" dirty="0"/>
          </a:p>
        </p:txBody>
      </p:sp>
      <p:sp>
        <p:nvSpPr>
          <p:cNvPr id="17" name="text"/>
          <p:cNvSpPr txBox="1"/>
          <p:nvPr/>
        </p:nvSpPr>
        <p:spPr>
          <a:xfrm>
            <a:off x="274320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кабелей на 5 железок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493776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D6D"/>
                </a:solidFill>
              </a:rPr>
              <a:t>1 225</a:t>
            </a:r>
            <a:endParaRPr lang="en-US" sz="4400" dirty="0"/>
          </a:p>
        </p:txBody>
      </p:sp>
      <p:sp>
        <p:nvSpPr>
          <p:cNvPr id="19" name="text"/>
          <p:cNvSpPr txBox="1"/>
          <p:nvPr/>
        </p:nvSpPr>
        <p:spPr>
          <a:xfrm>
            <a:off x="4937760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кабелей на 50 железок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548640" y="2926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· (n − 1) / 2</a:t>
            </a:r>
            <a:endParaRPr lang="en-US" sz="1800" dirty="0"/>
          </a:p>
        </p:txBody>
      </p:sp>
      <p:sp>
        <p:nvSpPr>
          <p:cNvPr id="21" name="bullets"/>
          <p:cNvSpPr txBox="1"/>
          <p:nvPr/>
        </p:nvSpPr>
        <p:spPr>
          <a:xfrm>
            <a:off x="548640" y="35204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 в каждый ноут нужно 49 портов. И кабель в каждую квартиру от каждого соседа.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Добавил одну железку — тяни ещё 50 проводов. Это не масштабируется вообще.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502920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777240" y="50292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Вывод: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нужна коробка в центре, куда каждый втыкается одним кабелем. Добро пожаловать на L2.</a:t>
            </a:r>
            <a:endParaRPr lang="en-US" sz="1600" dirty="0"/>
          </a:p>
        </p:txBody>
      </p:sp>
      <p:sp>
        <p:nvSpPr>
          <p:cNvPr id="24" name="meme pablo frame"/>
          <p:cNvSpPr/>
          <p:nvPr/>
        </p:nvSpPr>
        <p:spPr>
          <a:xfrm>
            <a:off x="7516368" y="1696004"/>
            <a:ext cx="4261104" cy="4197512"/>
          </a:xfrm>
          <a:prstGeom prst="roundRect">
            <a:avLst>
              <a:gd name="adj" fmla="val 2178"/>
            </a:avLst>
          </a:prstGeom>
          <a:solidFill>
            <a:srgbClr val="1E2A44"/>
          </a:solidFill>
          <a:ln/>
        </p:spPr>
      </p:sp>
      <p:pic>
        <p:nvPicPr>
          <p:cNvPr id="25" name="meme pablo" descr="/tmp/claude-0/-home-user-isp/fa3229ae-4615-5662-80eb-d4b94fff89c7/scratchpad/memes_out/pabl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769156"/>
            <a:ext cx="4114800" cy="40512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L2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Канальный уровень: коробка и адреса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Хаб, MAC-адрес, кадр, коммутатор, широковещание — и первые проблемы масштаба.</a:t>
            </a:r>
            <a:endParaRPr lang="en-US" sz="1800" dirty="0"/>
          </a:p>
        </p:txBody>
      </p:sp>
      <p:sp>
        <p:nvSpPr>
          <p:cNvPr id="5" name="section photo frame"/>
          <p:cNvSpPr/>
          <p:nvPr/>
        </p:nvSpPr>
        <p:spPr>
          <a:xfrm>
            <a:off x="6786456" y="795528"/>
            <a:ext cx="5080848" cy="5266944"/>
          </a:xfrm>
          <a:prstGeom prst="roundRect">
            <a:avLst>
              <a:gd name="adj" fmla="val 1800"/>
            </a:avLst>
          </a:prstGeom>
          <a:solidFill>
            <a:srgbClr val="0B1220"/>
          </a:solidFill>
          <a:ln/>
        </p:spPr>
      </p:sp>
      <p:pic>
        <p:nvPicPr>
          <p:cNvPr id="6" name="section photo" descr="/tmp/claude-0/-home-user-isp/fa3229ae-4615-5662-80eb-d4b94fff89c7/scratchpad/photos_crop/sec_l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608" y="868680"/>
            <a:ext cx="493454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Первая коробка: хаб (повторитель)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hoto hub_wide.jpg frame"/>
          <p:cNvSpPr/>
          <p:nvPr/>
        </p:nvSpPr>
        <p:spPr>
          <a:xfrm>
            <a:off x="804338" y="1389888"/>
            <a:ext cx="4426365" cy="2523744"/>
          </a:xfrm>
          <a:prstGeom prst="roundRect">
            <a:avLst>
              <a:gd name="adj" fmla="val 3623"/>
            </a:avLst>
          </a:prstGeom>
          <a:solidFill>
            <a:srgbClr val="162238"/>
          </a:solidFill>
          <a:ln/>
        </p:spPr>
      </p:sp>
      <p:pic>
        <p:nvPicPr>
          <p:cNvPr id="15" name="photo hub_wide.jpg" descr="/tmp/claude-0/-home-user-isp/fa3229ae-4615-5662-80eb-d4b94fff89c7/scratchpad/photos_crop/hub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90" y="1463040"/>
            <a:ext cx="4280061" cy="2377440"/>
          </a:xfrm>
          <a:prstGeom prst="rect">
            <a:avLst/>
          </a:prstGeom>
        </p:spPr>
      </p:pic>
      <p:sp>
        <p:nvSpPr>
          <p:cNvPr id="16" name="caption"/>
          <p:cNvSpPr txBox="1"/>
          <p:nvPr/>
        </p:nvSpPr>
        <p:spPr>
          <a:xfrm>
            <a:off x="804338" y="3950208"/>
            <a:ext cx="44263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Netgear DS108 — хаб на 8 портов, музейный экспонат</a:t>
            </a:r>
            <a:endParaRPr lang="en-US" sz="1000" dirty="0"/>
          </a:p>
        </p:txBody>
      </p:sp>
      <p:sp>
        <p:nvSpPr>
          <p:cNvPr id="17" name="hub"/>
          <p:cNvSpPr/>
          <p:nvPr/>
        </p:nvSpPr>
        <p:spPr>
          <a:xfrm>
            <a:off x="2743200" y="5166360"/>
            <a:ext cx="640080" cy="64008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27432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хаб</a:t>
            </a:r>
            <a:endParaRPr lang="en-US" sz="1000" dirty="0"/>
          </a:p>
        </p:txBody>
      </p:sp>
      <p:sp>
        <p:nvSpPr>
          <p:cNvPr id="19" name="pc A"/>
          <p:cNvSpPr/>
          <p:nvPr/>
        </p:nvSpPr>
        <p:spPr>
          <a:xfrm>
            <a:off x="731520" y="47548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31520" y="4754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21" name="pc B"/>
          <p:cNvSpPr/>
          <p:nvPr/>
        </p:nvSpPr>
        <p:spPr>
          <a:xfrm>
            <a:off x="731520" y="585216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731520" y="5852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23" name="pc C"/>
          <p:cNvSpPr/>
          <p:nvPr/>
        </p:nvSpPr>
        <p:spPr>
          <a:xfrm>
            <a:off x="4572000" y="47548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4572000" y="4754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25" name="pc D"/>
          <p:cNvSpPr/>
          <p:nvPr/>
        </p:nvSpPr>
        <p:spPr>
          <a:xfrm>
            <a:off x="4572000" y="585216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4572000" y="5852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</a:t>
            </a:r>
            <a:endParaRPr lang="en-US" sz="1100" dirty="0"/>
          </a:p>
        </p:txBody>
      </p:sp>
      <p:sp>
        <p:nvSpPr>
          <p:cNvPr id="27" name="arrow"/>
          <p:cNvSpPr/>
          <p:nvPr/>
        </p:nvSpPr>
        <p:spPr>
          <a:xfrm>
            <a:off x="1554480" y="4965192"/>
            <a:ext cx="1188720" cy="429768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H="1">
            <a:off x="1554480" y="5760720"/>
            <a:ext cx="1280160" cy="274320"/>
          </a:xfrm>
          <a:prstGeom prst="line">
            <a:avLst/>
          </a:prstGeom>
          <a:noFill/>
          <a:ln w="25400">
            <a:solidFill>
              <a:srgbClr val="FF4D6D"/>
            </a:solidFill>
            <a:prstDash val="dash"/>
            <a:tailEnd type="triangle"/>
          </a:ln>
        </p:spPr>
      </p:sp>
      <p:sp>
        <p:nvSpPr>
          <p:cNvPr id="29" name="arrow"/>
          <p:cNvSpPr/>
          <p:nvPr/>
        </p:nvSpPr>
        <p:spPr>
          <a:xfrm flipV="1">
            <a:off x="3383280" y="4965192"/>
            <a:ext cx="1188720" cy="384048"/>
          </a:xfrm>
          <a:prstGeom prst="line">
            <a:avLst/>
          </a:prstGeom>
          <a:noFill/>
          <a:ln w="25400">
            <a:solidFill>
              <a:srgbClr val="FF4D6D"/>
            </a:solidFill>
            <a:prstDash val="dash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3383280" y="5669280"/>
            <a:ext cx="1188720" cy="365760"/>
          </a:xfrm>
          <a:prstGeom prst="line">
            <a:avLst/>
          </a:prstGeom>
          <a:noFill/>
          <a:ln w="25400">
            <a:solidFill>
              <a:srgbClr val="FF4D6D"/>
            </a:solidFill>
            <a:prstDash val="dash"/>
            <a:tailEnd type="triangle"/>
          </a:ln>
        </p:spPr>
      </p:sp>
      <p:sp>
        <p:nvSpPr>
          <p:cNvPr id="31" name="text"/>
          <p:cNvSpPr txBox="1"/>
          <p:nvPr/>
        </p:nvSpPr>
        <p:spPr>
          <a:xfrm>
            <a:off x="54864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 шлёт кадр для C — копию получают все</a:t>
            </a:r>
            <a:endParaRPr lang="en-US" sz="1100" dirty="0"/>
          </a:p>
        </p:txBody>
      </p:sp>
      <p:sp>
        <p:nvSpPr>
          <p:cNvPr id="32" name="bullets"/>
          <p:cNvSpPr txBox="1"/>
          <p:nvPr/>
        </p:nvSpPr>
        <p:spPr>
          <a:xfrm>
            <a:off x="5943600" y="146304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Копирует всё во все порты.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Пришёл сигнал на порт 1 — уходит на порты 2, 3, 4… Хаб не знает, кому. Он вообще ничего не знает.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Это всё ещё L1.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Никаких адресов, никакого «кому». Просто усилитель с несколькими дырками.</a:t>
            </a:r>
            <a:endParaRPr lang="en-US" sz="1400" dirty="0"/>
          </a:p>
        </p:txBody>
      </p:sp>
      <p:sp>
        <p:nvSpPr>
          <p:cNvPr id="33" name="meme oprah frame"/>
          <p:cNvSpPr/>
          <p:nvPr/>
        </p:nvSpPr>
        <p:spPr>
          <a:xfrm>
            <a:off x="6734648" y="3127248"/>
            <a:ext cx="4178625" cy="3163824"/>
          </a:xfrm>
          <a:prstGeom prst="roundRect">
            <a:avLst>
              <a:gd name="adj" fmla="val 2890"/>
            </a:avLst>
          </a:prstGeom>
          <a:solidFill>
            <a:srgbClr val="1E2A44"/>
          </a:solidFill>
          <a:ln/>
        </p:spPr>
      </p:sp>
      <p:pic>
        <p:nvPicPr>
          <p:cNvPr id="34" name="meme oprah" descr="/tmp/claude-0/-home-user-isp/fa3229ae-4615-5662-80eb-d4b94fff89c7/scratchpad/memes_out/opra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800" y="3200400"/>
            <a:ext cx="4032321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Проблемы хаба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63040"/>
            <a:ext cx="6400800" cy="1188720"/>
          </a:xfrm>
          <a:prstGeom prst="roundRect">
            <a:avLst>
              <a:gd name="adj" fmla="val 9231"/>
            </a:avLst>
          </a:prstGeom>
          <a:solidFill>
            <a:srgbClr val="162238"/>
          </a:solidFill>
          <a:ln/>
        </p:spPr>
      </p:sp>
      <p:sp>
        <p:nvSpPr>
          <p:cNvPr id="15" name="shape"/>
          <p:cNvSpPr/>
          <p:nvPr/>
        </p:nvSpPr>
        <p:spPr>
          <a:xfrm>
            <a:off x="548640" y="1463040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86868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D6D"/>
                </a:solidFill>
              </a:rPr>
              <a:t>Все слышат всех</a:t>
            </a:r>
            <a:endParaRPr lang="en-US" sz="1700" dirty="0"/>
          </a:p>
        </p:txBody>
      </p:sp>
      <p:sp>
        <p:nvSpPr>
          <p:cNvPr id="17" name="text"/>
          <p:cNvSpPr txBox="1"/>
          <p:nvPr/>
        </p:nvSpPr>
        <p:spPr>
          <a:xfrm>
            <a:off x="868680" y="19933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Сосед видит твои кадры. Перехват паролей — вопрос одной программы.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2788920"/>
            <a:ext cx="6400800" cy="1188720"/>
          </a:xfrm>
          <a:prstGeom prst="roundRect">
            <a:avLst>
              <a:gd name="adj" fmla="val 9231"/>
            </a:avLst>
          </a:prstGeom>
          <a:solidFill>
            <a:srgbClr val="162238"/>
          </a:solidFill>
          <a:ln/>
        </p:spPr>
      </p:sp>
      <p:sp>
        <p:nvSpPr>
          <p:cNvPr id="19" name="shape"/>
          <p:cNvSpPr/>
          <p:nvPr/>
        </p:nvSpPr>
        <p:spPr>
          <a:xfrm>
            <a:off x="548640" y="2788920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868680" y="2926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</a:rPr>
              <a:t>Говорить может только один</a:t>
            </a:r>
            <a:endParaRPr lang="en-US" sz="1700" dirty="0"/>
          </a:p>
        </p:txBody>
      </p:sp>
      <p:sp>
        <p:nvSpPr>
          <p:cNvPr id="21" name="text"/>
          <p:cNvSpPr txBox="1"/>
          <p:nvPr/>
        </p:nvSpPr>
        <p:spPr>
          <a:xfrm>
            <a:off x="868680" y="33192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Двое отправили одновременно — коллизия, оба кадра в мусор, оба ждут случайное время и пробуют снова.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48640" y="4114800"/>
            <a:ext cx="6400800" cy="1188720"/>
          </a:xfrm>
          <a:prstGeom prst="roundRect">
            <a:avLst>
              <a:gd name="adj" fmla="val 9231"/>
            </a:avLst>
          </a:prstGeom>
          <a:solidFill>
            <a:srgbClr val="162238"/>
          </a:solidFill>
          <a:ln/>
        </p:spPr>
      </p:sp>
      <p:sp>
        <p:nvSpPr>
          <p:cNvPr id="23" name="shape"/>
          <p:cNvSpPr/>
          <p:nvPr/>
        </p:nvSpPr>
        <p:spPr>
          <a:xfrm>
            <a:off x="548640" y="4114800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B388FF"/>
          </a:solidFill>
          <a:ln/>
        </p:spPr>
      </p:sp>
      <p:sp>
        <p:nvSpPr>
          <p:cNvPr id="24" name="text"/>
          <p:cNvSpPr txBox="1"/>
          <p:nvPr/>
        </p:nvSpPr>
        <p:spPr>
          <a:xfrm>
            <a:off x="8686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88FF"/>
                </a:solidFill>
              </a:rPr>
              <a:t>Скорость делится на всех</a:t>
            </a:r>
            <a:endParaRPr lang="en-US" sz="1700" dirty="0"/>
          </a:p>
        </p:txBody>
      </p:sp>
      <p:sp>
        <p:nvSpPr>
          <p:cNvPr id="25" name="text"/>
          <p:cNvSpPr txBox="1"/>
          <p:nvPr/>
        </p:nvSpPr>
        <p:spPr>
          <a:xfrm>
            <a:off x="868680" y="464515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100 Мбит/с на 20 человек — по 5 на каждого, и то в лучшем случае.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548640" y="5486400"/>
            <a:ext cx="6400800" cy="777240"/>
          </a:xfrm>
          <a:prstGeom prst="roundRect">
            <a:avLst>
              <a:gd name="adj" fmla="val 14118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777240" y="5486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Вывод: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нужно уметь сказать, КОМУ предназначен кадр. Нужны адреса. И коробка, которая их понимает.</a:t>
            </a:r>
            <a:endParaRPr lang="en-US" sz="1400" dirty="0"/>
          </a:p>
        </p:txBody>
      </p:sp>
      <p:sp>
        <p:nvSpPr>
          <p:cNvPr id="28" name="meme thisisfine frame"/>
          <p:cNvSpPr/>
          <p:nvPr/>
        </p:nvSpPr>
        <p:spPr>
          <a:xfrm>
            <a:off x="7150608" y="1810512"/>
            <a:ext cx="4626864" cy="2322576"/>
          </a:xfrm>
          <a:prstGeom prst="roundRect">
            <a:avLst>
              <a:gd name="adj" fmla="val 3937"/>
            </a:avLst>
          </a:prstGeom>
          <a:solidFill>
            <a:srgbClr val="1E2A44"/>
          </a:solidFill>
          <a:ln/>
        </p:spPr>
      </p:sp>
      <p:pic>
        <p:nvPicPr>
          <p:cNvPr id="29" name="meme thisisfine" descr="/tmp/claude-0/-home-user-isp/fa3229ae-4615-5662-80eb-d4b94fff89c7/scratchpad/memes_out/thisisf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883664"/>
            <a:ext cx="4480560" cy="2176272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7223760" y="46634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Хабы умерли ещё в 2000-х. Но «общая среда» жива в Wi-Fi: один канал на всех соседей — те же коллизии, тот же делёж.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MAC-адрес: имя железки с завода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630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070B14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731520" y="1554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3C:7C:3F</a:t>
            </a:r>
            <a:pPr algn="ctr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1A:2B:9E</a:t>
            </a:r>
            <a:endParaRPr lang="en-US" sz="4000" dirty="0"/>
          </a:p>
        </p:txBody>
      </p:sp>
      <p:sp>
        <p:nvSpPr>
          <p:cNvPr id="16" name="text"/>
          <p:cNvSpPr txBox="1"/>
          <p:nvPr/>
        </p:nvSpPr>
        <p:spPr>
          <a:xfrm>
            <a:off x="9144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производитель (OUI)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37490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серийный номер</a:t>
            </a:r>
            <a:endParaRPr lang="en-US" sz="1200" dirty="0"/>
          </a:p>
        </p:txBody>
      </p:sp>
      <p:sp>
        <p:nvSpPr>
          <p:cNvPr id="18" name="bullets"/>
          <p:cNvSpPr txBox="1"/>
          <p:nvPr/>
        </p:nvSpPr>
        <p:spPr>
          <a:xfrm>
            <a:off x="548640" y="306324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48 бит = 6 байт,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записывают в шестнадцатеричном виде. Всего адресов — 281 триллион.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Зашит в сетевую карту на заводе,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как VIN у машины. У ноута с Wi-Fi и кабелем — два MAC: по одному на каждую карту.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3"/>
                </a:solidFill>
              </a:rPr>
              <a:t>Уникален (в теории), но плоский: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в нём нет ни страны, ни города. По MAC нельзя понять, ГДЕ устройство. Запомни это — вернёмся.</a:t>
            </a:r>
            <a:endParaRPr lang="en-US" sz="1400" dirty="0"/>
          </a:p>
        </p:txBody>
      </p:sp>
      <p:sp>
        <p:nvSpPr>
          <p:cNvPr id="19" name="code box"/>
          <p:cNvSpPr/>
          <p:nvPr/>
        </p:nvSpPr>
        <p:spPr>
          <a:xfrm>
            <a:off x="548640" y="534924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code"/>
          <p:cNvSpPr txBox="1"/>
          <p:nvPr/>
        </p:nvSpPr>
        <p:spPr>
          <a:xfrm>
            <a:off x="713232" y="5458968"/>
            <a:ext cx="60716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Windows: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/all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→ «Физический адрес»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Linux/mac: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link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ifconfig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→ link/ether …</a:t>
            </a:r>
            <a:endParaRPr lang="en-US" sz="1200" dirty="0"/>
          </a:p>
        </p:txBody>
      </p:sp>
      <p:sp>
        <p:nvSpPr>
          <p:cNvPr id="21" name="photo macsticker.jpg frame"/>
          <p:cNvSpPr/>
          <p:nvPr/>
        </p:nvSpPr>
        <p:spPr>
          <a:xfrm>
            <a:off x="7529205" y="1344168"/>
            <a:ext cx="3869670" cy="2249424"/>
          </a:xfrm>
          <a:prstGeom prst="roundRect">
            <a:avLst>
              <a:gd name="adj" fmla="val 4065"/>
            </a:avLst>
          </a:prstGeom>
          <a:solidFill>
            <a:srgbClr val="162238"/>
          </a:solidFill>
          <a:ln/>
        </p:spPr>
      </p:sp>
      <p:pic>
        <p:nvPicPr>
          <p:cNvPr id="22" name="photo macsticker.jpg" descr="/tmp/claude-0/-home-user-isp/fa3229ae-4615-5662-80eb-d4b94fff89c7/scratchpad/photos_crop/macstick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2357" y="1417320"/>
            <a:ext cx="3723366" cy="2103120"/>
          </a:xfrm>
          <a:prstGeom prst="rect">
            <a:avLst/>
          </a:prstGeom>
        </p:spPr>
      </p:pic>
      <p:sp>
        <p:nvSpPr>
          <p:cNvPr id="23" name="caption"/>
          <p:cNvSpPr txBox="1"/>
          <p:nvPr/>
        </p:nvSpPr>
        <p:spPr>
          <a:xfrm>
            <a:off x="7529205" y="3630168"/>
            <a:ext cx="3869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Наклейки с MAC на коробках сетевого оборудования</a:t>
            </a:r>
            <a:endParaRPr lang="en-US" sz="1000" dirty="0"/>
          </a:p>
        </p:txBody>
      </p:sp>
      <p:sp>
        <p:nvSpPr>
          <p:cNvPr id="24" name="photo nic.jpg frame"/>
          <p:cNvSpPr/>
          <p:nvPr/>
        </p:nvSpPr>
        <p:spPr>
          <a:xfrm>
            <a:off x="7691090" y="4041648"/>
            <a:ext cx="3545899" cy="2066544"/>
          </a:xfrm>
          <a:prstGeom prst="roundRect">
            <a:avLst>
              <a:gd name="adj" fmla="val 4425"/>
            </a:avLst>
          </a:prstGeom>
          <a:solidFill>
            <a:srgbClr val="162238"/>
          </a:solidFill>
          <a:ln/>
        </p:spPr>
      </p:sp>
      <p:pic>
        <p:nvPicPr>
          <p:cNvPr id="25" name="photo nic.jpg" descr="/tmp/claude-0/-home-user-isp/fa3229ae-4615-5662-80eb-d4b94fff89c7/scratchpad/photos_crop/n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42" y="4114800"/>
            <a:ext cx="3399595" cy="1920240"/>
          </a:xfrm>
          <a:prstGeom prst="rect">
            <a:avLst/>
          </a:prstGeom>
        </p:spPr>
      </p:pic>
      <p:sp>
        <p:nvSpPr>
          <p:cNvPr id="26" name="caption"/>
          <p:cNvSpPr txBox="1"/>
          <p:nvPr/>
        </p:nvSpPr>
        <p:spPr>
          <a:xfrm>
            <a:off x="7691090" y="6144768"/>
            <a:ext cx="35458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Сетевая карта (NIC) — то самое, в чём MAC и «живёт»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Кадр: конверт для данных на L2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field MAC получателя"/>
          <p:cNvSpPr/>
          <p:nvPr/>
        </p:nvSpPr>
        <p:spPr>
          <a:xfrm>
            <a:off x="548640" y="1737360"/>
            <a:ext cx="2011680" cy="914400"/>
          </a:xfrm>
          <a:prstGeom prst="rect">
            <a:avLst/>
          </a:prstGeom>
          <a:solidFill>
            <a:srgbClr val="1E2A44"/>
          </a:solidFill>
          <a:ln w="25400">
            <a:solidFill>
              <a:srgbClr val="FF4D6D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594360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6D"/>
                </a:solidFill>
              </a:rPr>
              <a:t>MAC получателя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59436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байт</a:t>
            </a:r>
            <a:endParaRPr lang="en-US" sz="1000" dirty="0"/>
          </a:p>
        </p:txBody>
      </p:sp>
      <p:sp>
        <p:nvSpPr>
          <p:cNvPr id="17" name="field MAC отправителя"/>
          <p:cNvSpPr/>
          <p:nvPr/>
        </p:nvSpPr>
        <p:spPr>
          <a:xfrm>
            <a:off x="2615184" y="1737360"/>
            <a:ext cx="2011680" cy="914400"/>
          </a:xfrm>
          <a:prstGeom prst="rect">
            <a:avLst/>
          </a:prstGeom>
          <a:solidFill>
            <a:srgbClr val="1E2A44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2660904" y="1783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020"/>
                </a:solidFill>
              </a:rPr>
              <a:t>MAC отправителя</a:t>
            </a:r>
            <a:endParaRPr lang="en-US" sz="1200" dirty="0"/>
          </a:p>
        </p:txBody>
      </p:sp>
      <p:sp>
        <p:nvSpPr>
          <p:cNvPr id="19" name="text"/>
          <p:cNvSpPr txBox="1"/>
          <p:nvPr/>
        </p:nvSpPr>
        <p:spPr>
          <a:xfrm>
            <a:off x="2660904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байт</a:t>
            </a:r>
            <a:endParaRPr lang="en-US" sz="1000" dirty="0"/>
          </a:p>
        </p:txBody>
      </p:sp>
      <p:sp>
        <p:nvSpPr>
          <p:cNvPr id="20" name="field Тип"/>
          <p:cNvSpPr/>
          <p:nvPr/>
        </p:nvSpPr>
        <p:spPr>
          <a:xfrm>
            <a:off x="4681728" y="1737360"/>
            <a:ext cx="822960" cy="914400"/>
          </a:xfrm>
          <a:prstGeom prst="rect">
            <a:avLst/>
          </a:prstGeom>
          <a:solidFill>
            <a:srgbClr val="1E2A44"/>
          </a:solidFill>
          <a:ln w="25400">
            <a:solidFill>
              <a:srgbClr val="B388FF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4727448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88FF"/>
                </a:solidFill>
              </a:rPr>
              <a:t>Тип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4727448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field Данные (полезная нагрузка)"/>
          <p:cNvSpPr/>
          <p:nvPr/>
        </p:nvSpPr>
        <p:spPr>
          <a:xfrm>
            <a:off x="5559552" y="1737360"/>
            <a:ext cx="4480560" cy="914400"/>
          </a:xfrm>
          <a:prstGeom prst="rect">
            <a:avLst/>
          </a:prstGeom>
          <a:solidFill>
            <a:srgbClr val="1E2A44"/>
          </a:solidFill>
          <a:ln w="25400">
            <a:solidFill>
              <a:srgbClr val="5AA9FF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5605272" y="1783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A9FF"/>
                </a:solidFill>
              </a:rPr>
              <a:t>Данные (полезная нагрузка)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5605272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46–1500 байт</a:t>
            </a:r>
            <a:endParaRPr lang="en-US" sz="1000" dirty="0"/>
          </a:p>
        </p:txBody>
      </p:sp>
      <p:sp>
        <p:nvSpPr>
          <p:cNvPr id="26" name="field FCS"/>
          <p:cNvSpPr/>
          <p:nvPr/>
        </p:nvSpPr>
        <p:spPr>
          <a:xfrm>
            <a:off x="10094976" y="1737360"/>
            <a:ext cx="822960" cy="914400"/>
          </a:xfrm>
          <a:prstGeom prst="rect">
            <a:avLst/>
          </a:prstGeom>
          <a:solidFill>
            <a:srgbClr val="1E2A44"/>
          </a:solidFill>
          <a:ln w="25400">
            <a:solidFill>
              <a:srgbClr val="2EE6A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10140696" y="1783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6A6"/>
                </a:solidFill>
              </a:rPr>
              <a:t>FCS</a:t>
            </a:r>
            <a:endParaRPr lang="en-US" sz="1200" dirty="0"/>
          </a:p>
        </p:txBody>
      </p:sp>
      <p:sp>
        <p:nvSpPr>
          <p:cNvPr id="28" name="text"/>
          <p:cNvSpPr txBox="1"/>
          <p:nvPr/>
        </p:nvSpPr>
        <p:spPr>
          <a:xfrm>
            <a:off x="10140696" y="2240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"/>
          <p:cNvSpPr txBox="1"/>
          <p:nvPr/>
        </p:nvSpPr>
        <p:spPr>
          <a:xfrm>
            <a:off x="5486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заголовок (служебное)</a:t>
            </a:r>
            <a:endParaRPr lang="en-US" sz="1100" dirty="0"/>
          </a:p>
        </p:txBody>
      </p:sp>
      <p:sp>
        <p:nvSpPr>
          <p:cNvPr id="30" name="text"/>
          <p:cNvSpPr txBox="1"/>
          <p:nvPr/>
        </p:nvSpPr>
        <p:spPr>
          <a:xfrm>
            <a:off x="548640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то, ради чего всё</a:t>
            </a:r>
            <a:endParaRPr lang="en-US" sz="1100" dirty="0"/>
          </a:p>
        </p:txBody>
      </p:sp>
      <p:sp>
        <p:nvSpPr>
          <p:cNvPr id="31" name="card"/>
          <p:cNvSpPr/>
          <p:nvPr/>
        </p:nvSpPr>
        <p:spPr>
          <a:xfrm>
            <a:off x="548640" y="30632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62238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77240" y="3172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</a:rPr>
              <a:t>Кому / от кого</a:t>
            </a:r>
            <a:endParaRPr lang="en-US" sz="1500" dirty="0"/>
          </a:p>
        </p:txBody>
      </p:sp>
      <p:sp>
        <p:nvSpPr>
          <p:cNvPr id="33" name="text"/>
          <p:cNvSpPr txBox="1"/>
          <p:nvPr/>
        </p:nvSpPr>
        <p:spPr>
          <a:xfrm>
            <a:off x="777240" y="35387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Чтобы коробка в центре знала, в какой порт отдать — и кто ответит. Два адреса, которые мы только что придумали.</a:t>
            </a:r>
            <a:endParaRPr lang="en-US" sz="1250" dirty="0"/>
          </a:p>
        </p:txBody>
      </p:sp>
      <p:sp>
        <p:nvSpPr>
          <p:cNvPr id="34" name="card"/>
          <p:cNvSpPr/>
          <p:nvPr/>
        </p:nvSpPr>
        <p:spPr>
          <a:xfrm>
            <a:off x="6217920" y="306324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62238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6446520" y="3172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88FF"/>
                </a:solidFill>
              </a:rPr>
              <a:t>Тип</a:t>
            </a:r>
            <a:endParaRPr lang="en-US" sz="1500" dirty="0"/>
          </a:p>
        </p:txBody>
      </p:sp>
      <p:sp>
        <p:nvSpPr>
          <p:cNvPr id="36" name="text"/>
          <p:cNvSpPr txBox="1"/>
          <p:nvPr/>
        </p:nvSpPr>
        <p:spPr>
          <a:xfrm>
            <a:off x="6446520" y="35387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Что лежит внутри: IPv4, IPv6, ARP… Получатель знает, какой программе отдать содержимое.</a:t>
            </a:r>
            <a:endParaRPr lang="en-US" sz="1250" dirty="0"/>
          </a:p>
        </p:txBody>
      </p:sp>
      <p:sp>
        <p:nvSpPr>
          <p:cNvPr id="37" name="card"/>
          <p:cNvSpPr/>
          <p:nvPr/>
        </p:nvSpPr>
        <p:spPr>
          <a:xfrm>
            <a:off x="548640" y="4480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62238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77724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A9FF"/>
                </a:solidFill>
              </a:rPr>
              <a:t>Данные</a:t>
            </a:r>
            <a:endParaRPr lang="en-US" sz="1500" dirty="0"/>
          </a:p>
        </p:txBody>
      </p:sp>
      <p:sp>
        <p:nvSpPr>
          <p:cNvPr id="39" name="text"/>
          <p:cNvSpPr txBox="1"/>
          <p:nvPr/>
        </p:nvSpPr>
        <p:spPr>
          <a:xfrm>
            <a:off x="777240" y="4956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Всё, что выше: IP-пакет, внутри него TCP, внутри него кусок видео. Кадр не заглядывает внутрь.</a:t>
            </a:r>
            <a:endParaRPr lang="en-US" sz="1250" dirty="0"/>
          </a:p>
        </p:txBody>
      </p:sp>
      <p:sp>
        <p:nvSpPr>
          <p:cNvPr id="40" name="card"/>
          <p:cNvSpPr/>
          <p:nvPr/>
        </p:nvSpPr>
        <p:spPr>
          <a:xfrm>
            <a:off x="6217920" y="4480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62238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644652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</a:rPr>
              <a:t>FCS</a:t>
            </a:r>
            <a:endParaRPr lang="en-US" sz="1500" dirty="0"/>
          </a:p>
        </p:txBody>
      </p:sp>
      <p:sp>
        <p:nvSpPr>
          <p:cNvPr id="42" name="text"/>
          <p:cNvSpPr txBox="1"/>
          <p:nvPr/>
        </p:nvSpPr>
        <p:spPr>
          <a:xfrm>
            <a:off x="6446520" y="49560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Контрольная сумма. Кадр побился по дороге (помехи, плохой кабель) — его просто выбрасывают.</a:t>
            </a:r>
            <a:endParaRPr lang="en-US" sz="1250" dirty="0"/>
          </a:p>
        </p:txBody>
      </p:sp>
      <p:sp>
        <p:nvSpPr>
          <p:cNvPr id="43" name="card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44" name="text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Словарь: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единица данных на L2 называется кадр (frame). Запоминаем слово — у каждого уровня своё.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Коммутатор: коробка, которая запоминает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hoto switch_wide.jpg frame"/>
          <p:cNvSpPr/>
          <p:nvPr/>
        </p:nvSpPr>
        <p:spPr>
          <a:xfrm>
            <a:off x="475488" y="1404747"/>
            <a:ext cx="5266944" cy="3042666"/>
          </a:xfrm>
          <a:prstGeom prst="roundRect">
            <a:avLst>
              <a:gd name="adj" fmla="val 3005"/>
            </a:avLst>
          </a:prstGeom>
          <a:solidFill>
            <a:srgbClr val="162238"/>
          </a:solidFill>
          <a:ln/>
        </p:spPr>
      </p:sp>
      <p:pic>
        <p:nvPicPr>
          <p:cNvPr id="15" name="photo switch_wide.jpg" descr="/tmp/claude-0/-home-user-isp/fa3229ae-4615-5662-80eb-d4b94fff89c7/scratchpad/photos_crop/switch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7899"/>
            <a:ext cx="5120640" cy="2896362"/>
          </a:xfrm>
          <a:prstGeom prst="rect">
            <a:avLst/>
          </a:prstGeom>
        </p:spPr>
      </p:pic>
      <p:sp>
        <p:nvSpPr>
          <p:cNvPr id="16" name="caption"/>
          <p:cNvSpPr txBox="1"/>
          <p:nvPr/>
        </p:nvSpPr>
        <p:spPr>
          <a:xfrm>
            <a:off x="475488" y="4483989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Cisco Catalyst 2950: 24 порта — 24 «дырки», одна таблица</a:t>
            </a:r>
            <a:endParaRPr lang="en-US" sz="1000" dirty="0"/>
          </a:p>
        </p:txBody>
      </p:sp>
      <p:sp>
        <p:nvSpPr>
          <p:cNvPr id="17" name="text"/>
          <p:cNvSpPr txBox="1"/>
          <p:nvPr/>
        </p:nvSpPr>
        <p:spPr>
          <a:xfrm>
            <a:off x="548640" y="4937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Коммутатор — это хаб, который научился читать адреса на конверте. Он ведёт таблицу «какой MAC за каким портом» и копирует кадр только туда, куда нужно.</a:t>
            </a:r>
            <a:endParaRPr lang="en-US" sz="1350" dirty="0"/>
          </a:p>
        </p:txBody>
      </p:sp>
      <p:sp>
        <p:nvSpPr>
          <p:cNvPr id="18" name="card"/>
          <p:cNvSpPr/>
          <p:nvPr/>
        </p:nvSpPr>
        <p:spPr>
          <a:xfrm>
            <a:off x="6126480" y="146304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162238"/>
          </a:solidFill>
          <a:ln/>
        </p:spPr>
      </p:sp>
      <p:sp>
        <p:nvSpPr>
          <p:cNvPr id="19" name="rule number"/>
          <p:cNvSpPr/>
          <p:nvPr/>
        </p:nvSpPr>
        <p:spPr>
          <a:xfrm>
            <a:off x="6309360" y="1783080"/>
            <a:ext cx="640080" cy="64008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6309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1</a:t>
            </a:r>
            <a:endParaRPr lang="en-US" sz="2200" dirty="0"/>
          </a:p>
        </p:txBody>
      </p:sp>
      <p:sp>
        <p:nvSpPr>
          <p:cNvPr id="21" name="text"/>
          <p:cNvSpPr txBox="1"/>
          <p:nvPr/>
        </p:nvSpPr>
        <p:spPr>
          <a:xfrm>
            <a:off x="713232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Пришёл кадр — запомни отправителя</a:t>
            </a:r>
            <a:endParaRPr lang="en-US" sz="1450" dirty="0"/>
          </a:p>
        </p:txBody>
      </p:sp>
      <p:sp>
        <p:nvSpPr>
          <p:cNvPr id="22" name="text"/>
          <p:cNvSpPr txBox="1"/>
          <p:nvPr/>
        </p:nvSpPr>
        <p:spPr>
          <a:xfrm>
            <a:off x="713232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MAC отправителя живёт за портом, откуда пришёл кадр. Записать в таблицу.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6126480" y="288036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162238"/>
          </a:solidFill>
          <a:ln/>
        </p:spPr>
      </p:sp>
      <p:sp>
        <p:nvSpPr>
          <p:cNvPr id="24" name="rule number"/>
          <p:cNvSpPr/>
          <p:nvPr/>
        </p:nvSpPr>
        <p:spPr>
          <a:xfrm>
            <a:off x="6309360" y="3200400"/>
            <a:ext cx="640080" cy="640080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25" name="text"/>
          <p:cNvSpPr txBox="1"/>
          <p:nvPr/>
        </p:nvSpPr>
        <p:spPr>
          <a:xfrm>
            <a:off x="63093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text"/>
          <p:cNvSpPr txBox="1"/>
          <p:nvPr/>
        </p:nvSpPr>
        <p:spPr>
          <a:xfrm>
            <a:off x="713232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Получатель знаком — отправь только ему</a:t>
            </a:r>
            <a:endParaRPr lang="en-US" sz="1450" dirty="0"/>
          </a:p>
        </p:txBody>
      </p:sp>
      <p:sp>
        <p:nvSpPr>
          <p:cNvPr id="27" name="text"/>
          <p:cNvSpPr txBox="1"/>
          <p:nvPr/>
        </p:nvSpPr>
        <p:spPr>
          <a:xfrm>
            <a:off x="7132320" y="3429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Нашёл MAC получателя в таблице — кадр уходит в один порт. Остальные ничего не видят.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126480" y="429768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162238"/>
          </a:solidFill>
          <a:ln/>
        </p:spPr>
      </p:sp>
      <p:sp>
        <p:nvSpPr>
          <p:cNvPr id="29" name="rule number"/>
          <p:cNvSpPr/>
          <p:nvPr/>
        </p:nvSpPr>
        <p:spPr>
          <a:xfrm>
            <a:off x="6309360" y="4617720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"/>
          <p:cNvSpPr txBox="1"/>
          <p:nvPr/>
        </p:nvSpPr>
        <p:spPr>
          <a:xfrm>
            <a:off x="630936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3</a:t>
            </a:r>
            <a:endParaRPr lang="en-US" sz="2200" dirty="0"/>
          </a:p>
        </p:txBody>
      </p:sp>
      <p:sp>
        <p:nvSpPr>
          <p:cNvPr id="31" name="text"/>
          <p:cNvSpPr txBox="1"/>
          <p:nvPr/>
        </p:nvSpPr>
        <p:spPr>
          <a:xfrm>
            <a:off x="7132320" y="4434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Незнаком или «всем» — отправь во все порты</a:t>
            </a:r>
            <a:endParaRPr lang="en-US" sz="1450" dirty="0"/>
          </a:p>
        </p:txBody>
      </p:sp>
      <p:sp>
        <p:nvSpPr>
          <p:cNvPr id="32" name="text"/>
          <p:cNvSpPr txBox="1"/>
          <p:nvPr/>
        </p:nvSpPr>
        <p:spPr>
          <a:xfrm>
            <a:off x="7132320" y="4846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Кроме того, откуда пришёл. Это называется flooding. Ответ придёт — и адрес запомнится.</a:t>
            </a:r>
            <a:endParaRPr lang="en-US" sz="1200" dirty="0"/>
          </a:p>
        </p:txBody>
      </p:sp>
      <p:sp>
        <p:nvSpPr>
          <p:cNvPr id="33" name="text"/>
          <p:cNvSpPr txBox="1"/>
          <p:nvPr/>
        </p:nvSpPr>
        <p:spPr>
          <a:xfrm>
            <a:off x="6126480" y="5806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«Так делают даже простые длинки за 300 рублей» — linkmeup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коммутатор учится: три шага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162238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73152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Шаг 1. A → B, таблица пуста</a:t>
            </a:r>
            <a:endParaRPr lang="en-US" sz="1500" dirty="0"/>
          </a:p>
        </p:txBody>
      </p:sp>
      <p:sp>
        <p:nvSpPr>
          <p:cNvPr id="16" name="text"/>
          <p:cNvSpPr txBox="1"/>
          <p:nvPr/>
        </p:nvSpPr>
        <p:spPr>
          <a:xfrm>
            <a:off x="73152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Коммутатор запомнил A за портом 1. B не знает — копирует кадр во все порты.</a:t>
            </a:r>
            <a:endParaRPr lang="en-US" sz="1150" dirty="0"/>
          </a:p>
        </p:txBody>
      </p:sp>
      <p:sp>
        <p:nvSpPr>
          <p:cNvPr id="17" name="switch "/>
          <p:cNvSpPr/>
          <p:nvPr/>
        </p:nvSpPr>
        <p:spPr>
          <a:xfrm>
            <a:off x="1143000" y="274320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 w="15875">
            <a:solidFill>
              <a:srgbClr val="2EE6A6"/>
            </a:solidFill>
            <a:prstDash val="solid"/>
          </a:ln>
        </p:spPr>
      </p:sp>
      <p:sp>
        <p:nvSpPr>
          <p:cNvPr id="18" name="port"/>
          <p:cNvSpPr/>
          <p:nvPr/>
        </p:nvSpPr>
        <p:spPr>
          <a:xfrm>
            <a:off x="1280160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19" name="port"/>
          <p:cNvSpPr/>
          <p:nvPr/>
        </p:nvSpPr>
        <p:spPr>
          <a:xfrm>
            <a:off x="2276856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20" name="port"/>
          <p:cNvSpPr/>
          <p:nvPr/>
        </p:nvSpPr>
        <p:spPr>
          <a:xfrm>
            <a:off x="3273552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21" name="pc A"/>
          <p:cNvSpPr/>
          <p:nvPr/>
        </p:nvSpPr>
        <p:spPr>
          <a:xfrm>
            <a:off x="822960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822960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 flipV="1">
            <a:off x="1252728" y="3255264"/>
            <a:ext cx="105156" cy="722376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4" name="pc B"/>
          <p:cNvSpPr/>
          <p:nvPr/>
        </p:nvSpPr>
        <p:spPr>
          <a:xfrm>
            <a:off x="1874520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1874520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26" name="arrow"/>
          <p:cNvSpPr/>
          <p:nvPr/>
        </p:nvSpPr>
        <p:spPr>
          <a:xfrm flipH="1">
            <a:off x="2304288" y="3255264"/>
            <a:ext cx="50292" cy="722376"/>
          </a:xfrm>
          <a:prstGeom prst="line">
            <a:avLst/>
          </a:prstGeom>
          <a:noFill/>
          <a:ln w="31750">
            <a:solidFill>
              <a:srgbClr val="FF4D6D"/>
            </a:solidFill>
            <a:prstDash val="dash"/>
            <a:tailEnd type="triangle"/>
          </a:ln>
        </p:spPr>
      </p:sp>
      <p:sp>
        <p:nvSpPr>
          <p:cNvPr id="27" name="pc C"/>
          <p:cNvSpPr/>
          <p:nvPr/>
        </p:nvSpPr>
        <p:spPr>
          <a:xfrm>
            <a:off x="2926080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2926080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29" name="arrow"/>
          <p:cNvSpPr/>
          <p:nvPr/>
        </p:nvSpPr>
        <p:spPr>
          <a:xfrm>
            <a:off x="3351276" y="3255264"/>
            <a:ext cx="4572" cy="722376"/>
          </a:xfrm>
          <a:prstGeom prst="line">
            <a:avLst/>
          </a:prstGeom>
          <a:noFill/>
          <a:ln w="31750">
            <a:solidFill>
              <a:srgbClr val="FF4D6D"/>
            </a:solidFill>
            <a:prstDash val="dash"/>
            <a:tailEnd type="triangle"/>
          </a:ln>
        </p:spPr>
      </p:sp>
      <p:sp>
        <p:nvSpPr>
          <p:cNvPr id="30" name="text"/>
          <p:cNvSpPr txBox="1"/>
          <p:nvPr/>
        </p:nvSpPr>
        <p:spPr>
          <a:xfrm>
            <a:off x="82296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1          порт 2          порт 3</a:t>
            </a:r>
            <a:endParaRPr lang="en-US" sz="900" dirty="0"/>
          </a:p>
        </p:txBody>
      </p:sp>
      <p:graphicFrame>
        <p:nvGraphicFramePr>
          <p:cNvPr id="17" name="ma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80060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порт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E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 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E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32" name="card"/>
          <p:cNvSpPr/>
          <p:nvPr/>
        </p:nvSpPr>
        <p:spPr>
          <a:xfrm>
            <a:off x="4288536" y="141732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162238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4471416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Шаг 2. B отвечает A</a:t>
            </a:r>
            <a:endParaRPr lang="en-US" sz="1500" dirty="0"/>
          </a:p>
        </p:txBody>
      </p:sp>
      <p:sp>
        <p:nvSpPr>
          <p:cNvPr id="34" name="text"/>
          <p:cNvSpPr txBox="1"/>
          <p:nvPr/>
        </p:nvSpPr>
        <p:spPr>
          <a:xfrm>
            <a:off x="4471416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Запомнил B за портом 2. A уже знает — кадр уходит только в порт 1. C ничего не видит.</a:t>
            </a:r>
            <a:endParaRPr lang="en-US" sz="1150" dirty="0"/>
          </a:p>
        </p:txBody>
      </p:sp>
      <p:sp>
        <p:nvSpPr>
          <p:cNvPr id="35" name="switch "/>
          <p:cNvSpPr/>
          <p:nvPr/>
        </p:nvSpPr>
        <p:spPr>
          <a:xfrm>
            <a:off x="4882896" y="274320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 w="15875">
            <a:solidFill>
              <a:srgbClr val="2EE6A6"/>
            </a:solidFill>
            <a:prstDash val="solid"/>
          </a:ln>
        </p:spPr>
      </p:sp>
      <p:sp>
        <p:nvSpPr>
          <p:cNvPr id="36" name="port"/>
          <p:cNvSpPr/>
          <p:nvPr/>
        </p:nvSpPr>
        <p:spPr>
          <a:xfrm>
            <a:off x="5020056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37" name="port"/>
          <p:cNvSpPr/>
          <p:nvPr/>
        </p:nvSpPr>
        <p:spPr>
          <a:xfrm>
            <a:off x="6016752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38" name="port"/>
          <p:cNvSpPr/>
          <p:nvPr/>
        </p:nvSpPr>
        <p:spPr>
          <a:xfrm>
            <a:off x="7013448" y="2898648"/>
            <a:ext cx="155448" cy="192024"/>
          </a:xfrm>
          <a:prstGeom prst="rect">
            <a:avLst/>
          </a:prstGeom>
          <a:solidFill>
            <a:srgbClr val="0B1220"/>
          </a:solidFill>
          <a:ln w="9525">
            <a:solidFill>
              <a:srgbClr val="A9B4C6"/>
            </a:solidFill>
            <a:prstDash val="solid"/>
          </a:ln>
        </p:spPr>
      </p:sp>
      <p:sp>
        <p:nvSpPr>
          <p:cNvPr id="39" name="pc A"/>
          <p:cNvSpPr/>
          <p:nvPr/>
        </p:nvSpPr>
        <p:spPr>
          <a:xfrm>
            <a:off x="4562856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40" name="text"/>
          <p:cNvSpPr txBox="1"/>
          <p:nvPr/>
        </p:nvSpPr>
        <p:spPr>
          <a:xfrm>
            <a:off x="4562856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  <a:endParaRPr lang="en-US" sz="1200" dirty="0"/>
          </a:p>
        </p:txBody>
      </p:sp>
      <p:sp>
        <p:nvSpPr>
          <p:cNvPr id="41" name="arrow"/>
          <p:cNvSpPr/>
          <p:nvPr/>
        </p:nvSpPr>
        <p:spPr>
          <a:xfrm flipH="1">
            <a:off x="4992624" y="3255264"/>
            <a:ext cx="105156" cy="722376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42" name="pc B"/>
          <p:cNvSpPr/>
          <p:nvPr/>
        </p:nvSpPr>
        <p:spPr>
          <a:xfrm>
            <a:off x="5614416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43" name="text"/>
          <p:cNvSpPr txBox="1"/>
          <p:nvPr/>
        </p:nvSpPr>
        <p:spPr>
          <a:xfrm>
            <a:off x="5614416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44" name="arrow"/>
          <p:cNvSpPr/>
          <p:nvPr/>
        </p:nvSpPr>
        <p:spPr>
          <a:xfrm flipV="1">
            <a:off x="6044184" y="3255264"/>
            <a:ext cx="50292" cy="722376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45" name="pc C"/>
          <p:cNvSpPr/>
          <p:nvPr/>
        </p:nvSpPr>
        <p:spPr>
          <a:xfrm>
            <a:off x="6665976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46" name="text"/>
          <p:cNvSpPr txBox="1"/>
          <p:nvPr/>
        </p:nvSpPr>
        <p:spPr>
          <a:xfrm>
            <a:off x="6665976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47" name="arrow"/>
          <p:cNvSpPr/>
          <p:nvPr/>
        </p:nvSpPr>
        <p:spPr>
          <a:xfrm>
            <a:off x="7091172" y="3255264"/>
            <a:ext cx="4572" cy="722376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48" name="text"/>
          <p:cNvSpPr txBox="1"/>
          <p:nvPr/>
        </p:nvSpPr>
        <p:spPr>
          <a:xfrm>
            <a:off x="4562856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1          порт 2          порт 3</a:t>
            </a:r>
            <a:endParaRPr lang="en-US" sz="900" dirty="0"/>
          </a:p>
        </p:txBody>
      </p:sp>
      <p:graphicFrame>
        <p:nvGraphicFramePr>
          <p:cNvPr id="33" name="ma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2856" y="480060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порт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 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E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E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50" name="card"/>
          <p:cNvSpPr/>
          <p:nvPr/>
        </p:nvSpPr>
        <p:spPr>
          <a:xfrm>
            <a:off x="8028432" y="1417320"/>
            <a:ext cx="3611880" cy="4846320"/>
          </a:xfrm>
          <a:prstGeom prst="roundRect">
            <a:avLst>
              <a:gd name="adj" fmla="val 3038"/>
            </a:avLst>
          </a:prstGeom>
          <a:solidFill>
            <a:srgbClr val="162238"/>
          </a:solidFill>
          <a:ln/>
        </p:spPr>
      </p:sp>
      <p:sp>
        <p:nvSpPr>
          <p:cNvPr id="51" name="text"/>
          <p:cNvSpPr txBox="1"/>
          <p:nvPr/>
        </p:nvSpPr>
        <p:spPr>
          <a:xfrm>
            <a:off x="8211312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Шаг 3. A → B снова</a:t>
            </a:r>
            <a:endParaRPr lang="en-US" sz="1500" dirty="0"/>
          </a:p>
        </p:txBody>
      </p:sp>
      <p:sp>
        <p:nvSpPr>
          <p:cNvPr id="52" name="text"/>
          <p:cNvSpPr txBox="1"/>
          <p:nvPr/>
        </p:nvSpPr>
        <p:spPr>
          <a:xfrm>
            <a:off x="8211312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Оба в таблице. Кадр идёт строго из порта 1 в порт 2. Никакого лишнего шума.</a:t>
            </a:r>
            <a:endParaRPr lang="en-US" sz="1150" dirty="0"/>
          </a:p>
        </p:txBody>
      </p:sp>
      <p:sp>
        <p:nvSpPr>
          <p:cNvPr id="53" name="switch "/>
          <p:cNvSpPr/>
          <p:nvPr/>
        </p:nvSpPr>
        <p:spPr>
          <a:xfrm>
            <a:off x="8622792" y="274320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 w="15875">
            <a:solidFill>
              <a:srgbClr val="2EE6A6"/>
            </a:solidFill>
            <a:prstDash val="solid"/>
          </a:ln>
        </p:spPr>
      </p:sp>
      <p:sp>
        <p:nvSpPr>
          <p:cNvPr id="54" name="port"/>
          <p:cNvSpPr/>
          <p:nvPr/>
        </p:nvSpPr>
        <p:spPr>
          <a:xfrm>
            <a:off x="8759952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55" name="port"/>
          <p:cNvSpPr/>
          <p:nvPr/>
        </p:nvSpPr>
        <p:spPr>
          <a:xfrm>
            <a:off x="9756648" y="289864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56" name="port"/>
          <p:cNvSpPr/>
          <p:nvPr/>
        </p:nvSpPr>
        <p:spPr>
          <a:xfrm>
            <a:off x="10753344" y="2898648"/>
            <a:ext cx="155448" cy="192024"/>
          </a:xfrm>
          <a:prstGeom prst="rect">
            <a:avLst/>
          </a:prstGeom>
          <a:solidFill>
            <a:srgbClr val="0B1220"/>
          </a:solidFill>
          <a:ln w="9525">
            <a:solidFill>
              <a:srgbClr val="A9B4C6"/>
            </a:solidFill>
            <a:prstDash val="solid"/>
          </a:ln>
        </p:spPr>
      </p:sp>
      <p:sp>
        <p:nvSpPr>
          <p:cNvPr id="57" name="pc A"/>
          <p:cNvSpPr/>
          <p:nvPr/>
        </p:nvSpPr>
        <p:spPr>
          <a:xfrm>
            <a:off x="8302752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8" name="text"/>
          <p:cNvSpPr txBox="1"/>
          <p:nvPr/>
        </p:nvSpPr>
        <p:spPr>
          <a:xfrm>
            <a:off x="8302752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  <a:endParaRPr lang="en-US" sz="1200" dirty="0"/>
          </a:p>
        </p:txBody>
      </p:sp>
      <p:sp>
        <p:nvSpPr>
          <p:cNvPr id="59" name="arrow"/>
          <p:cNvSpPr/>
          <p:nvPr/>
        </p:nvSpPr>
        <p:spPr>
          <a:xfrm flipV="1">
            <a:off x="8732520" y="3255264"/>
            <a:ext cx="105156" cy="722376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60" name="pc B"/>
          <p:cNvSpPr/>
          <p:nvPr/>
        </p:nvSpPr>
        <p:spPr>
          <a:xfrm>
            <a:off x="9354312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61" name="text"/>
          <p:cNvSpPr txBox="1"/>
          <p:nvPr/>
        </p:nvSpPr>
        <p:spPr>
          <a:xfrm>
            <a:off x="9354312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62" name="arrow"/>
          <p:cNvSpPr/>
          <p:nvPr/>
        </p:nvSpPr>
        <p:spPr>
          <a:xfrm flipH="1">
            <a:off x="9784080" y="3255264"/>
            <a:ext cx="50292" cy="722376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63" name="pc C"/>
          <p:cNvSpPr/>
          <p:nvPr/>
        </p:nvSpPr>
        <p:spPr>
          <a:xfrm>
            <a:off x="10405872" y="3977640"/>
            <a:ext cx="868680" cy="41148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64" name="text"/>
          <p:cNvSpPr txBox="1"/>
          <p:nvPr/>
        </p:nvSpPr>
        <p:spPr>
          <a:xfrm>
            <a:off x="10405872" y="39776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65" name="arrow"/>
          <p:cNvSpPr/>
          <p:nvPr/>
        </p:nvSpPr>
        <p:spPr>
          <a:xfrm>
            <a:off x="10831068" y="3255264"/>
            <a:ext cx="4572" cy="722376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66" name="text"/>
          <p:cNvSpPr txBox="1"/>
          <p:nvPr/>
        </p:nvSpPr>
        <p:spPr>
          <a:xfrm>
            <a:off x="8302752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1          порт 2          порт 3</a:t>
            </a:r>
            <a:endParaRPr lang="en-US" sz="900" dirty="0"/>
          </a:p>
        </p:txBody>
      </p:sp>
      <p:graphicFrame>
        <p:nvGraphicFramePr>
          <p:cNvPr id="49" name="ma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02752" y="480060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9B4C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порт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 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 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Broadcast: крикнуть всем сразу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bullets"/>
          <p:cNvSpPr txBox="1"/>
          <p:nvPr/>
        </p:nvSpPr>
        <p:spPr>
          <a:xfrm>
            <a:off x="548640" y="14630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accent1"/>
                </a:solidFill>
              </a:rPr>
              <a:t>FF:FF:FF:FF:FF:FF = «всем».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Коммутатор копирует такой кадр во все порты, как хаб. Это не ошибка, а специальный режим.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accent1"/>
                </a:solidFill>
              </a:rPr>
              <a:t>Зачем кричать?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Когда не знаешь, кого искать: «кто тут раздаёт адреса?» (DHCP), «у кого адрес 192.168.1.1? скажи свой MAC» (ARP — скоро).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accent1"/>
                </a:solidFill>
              </a:rPr>
              <a:t>Широковещательный домен —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все устройства, которые услышат твой крик. Весь офис на одном коммутаторе = один домен. Чем он больше, тем больше шума у каждого.</a:t>
            </a:r>
            <a:endParaRPr lang="en-US" sz="1450" dirty="0"/>
          </a:p>
        </p:txBody>
      </p:sp>
      <p:sp>
        <p:nvSpPr>
          <p:cNvPr id="15" name="card"/>
          <p:cNvSpPr/>
          <p:nvPr/>
        </p:nvSpPr>
        <p:spPr>
          <a:xfrm>
            <a:off x="548640" y="4343400"/>
            <a:ext cx="6400800" cy="1920240"/>
          </a:xfrm>
          <a:prstGeom prst="roundRect">
            <a:avLst>
              <a:gd name="adj" fmla="val 5714"/>
            </a:avLst>
          </a:prstGeom>
          <a:solidFill>
            <a:srgbClr val="1A2238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685800" y="4297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17" name="text"/>
          <p:cNvSpPr txBox="1"/>
          <p:nvPr/>
        </p:nvSpPr>
        <p:spPr>
          <a:xfrm>
            <a:off x="1051560" y="4544568"/>
            <a:ext cx="5715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chemeClr val="tx1"/>
                </a:solidFill>
              </a:rPr>
              <a:t>У нас есть три способа разграничить широковещательные домены: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chemeClr val="tx1"/>
                </a:solidFill>
              </a:rPr>
              <a:t>1. Поставить маршрутизатор и разнести хосты в разные подсети.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chemeClr val="tx1"/>
                </a:solidFill>
              </a:rPr>
              <a:t>2. Разделить сеть VLAN’ами.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chemeClr val="tx1"/>
                </a:solidFill>
              </a:rPr>
              <a:t>3. Порвать кабель.</a:t>
            </a:r>
            <a:endParaRPr lang="en-US" sz="1350" dirty="0"/>
          </a:p>
        </p:txBody>
      </p:sp>
      <p:sp>
        <p:nvSpPr>
          <p:cNvPr id="18" name="text"/>
          <p:cNvSpPr txBox="1"/>
          <p:nvPr/>
        </p:nvSpPr>
        <p:spPr>
          <a:xfrm>
            <a:off x="1051560" y="585216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linkmeup, «Сети для самых маленьких», часть 2</a:t>
            </a:r>
            <a:endParaRPr lang="en-US" sz="1100" dirty="0"/>
          </a:p>
        </p:txBody>
      </p:sp>
      <p:sp>
        <p:nvSpPr>
          <p:cNvPr id="19" name="meme disaster frame"/>
          <p:cNvSpPr/>
          <p:nvPr/>
        </p:nvSpPr>
        <p:spPr>
          <a:xfrm>
            <a:off x="7242048" y="1435608"/>
            <a:ext cx="4535424" cy="3438144"/>
          </a:xfrm>
          <a:prstGeom prst="roundRect">
            <a:avLst>
              <a:gd name="adj" fmla="val 2660"/>
            </a:avLst>
          </a:prstGeom>
          <a:solidFill>
            <a:srgbClr val="1E2A44"/>
          </a:solidFill>
          <a:ln/>
        </p:spPr>
      </p:sp>
      <p:pic>
        <p:nvPicPr>
          <p:cNvPr id="20" name="meme disaster" descr="/tmp/claude-0/-home-user-isp/fa3229ae-4615-5662-80eb-d4b94fff89c7/scratchpad/memes_out/disa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08760"/>
            <a:ext cx="4389120" cy="3291840"/>
          </a:xfrm>
          <a:prstGeom prst="rect">
            <a:avLst/>
          </a:prstGeom>
        </p:spPr>
      </p:pic>
      <p:sp>
        <p:nvSpPr>
          <p:cNvPr id="21" name="text"/>
          <p:cNvSpPr txBox="1"/>
          <p:nvPr/>
        </p:nvSpPr>
        <p:spPr>
          <a:xfrm>
            <a:off x="7315200" y="49377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Петля: два кабеля между коммутаторами (или патч-корд «в себя») — и один broadcast размножается бесконечно. Кадр не умирает сам. Это широковещательный шторм — и для него придумали отдельный протокол STP.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Коммутация решена. Расходимся?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63040"/>
            <a:ext cx="3154680" cy="1920240"/>
          </a:xfrm>
          <a:prstGeom prst="roundRect">
            <a:avLst>
              <a:gd name="adj" fmla="val 5714"/>
            </a:avLst>
          </a:prstGeom>
          <a:solidFill>
            <a:srgbClr val="162238"/>
          </a:solidFill>
          <a:ln/>
        </p:spPr>
      </p:sp>
      <p:sp>
        <p:nvSpPr>
          <p:cNvPr id="15" name="shape"/>
          <p:cNvSpPr/>
          <p:nvPr/>
        </p:nvSpPr>
        <p:spPr>
          <a:xfrm>
            <a:off x="548640" y="1463040"/>
            <a:ext cx="109728" cy="1920240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86868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</a:rPr>
              <a:t>MAC — плоский</a:t>
            </a:r>
            <a:endParaRPr lang="en-US" sz="1500" dirty="0"/>
          </a:p>
        </p:txBody>
      </p:sp>
      <p:sp>
        <p:nvSpPr>
          <p:cNvPr id="17" name="text"/>
          <p:cNvSpPr txBox="1"/>
          <p:nvPr/>
        </p:nvSpPr>
        <p:spPr>
          <a:xfrm>
            <a:off x="868680" y="20574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 нём нет иерархии. 3C:7C:3F:… может стоять в Москве, а может — в Чили. По адресу не понять, «в какую сторону» слать.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3886200" y="1463040"/>
            <a:ext cx="3154680" cy="1920240"/>
          </a:xfrm>
          <a:prstGeom prst="roundRect">
            <a:avLst>
              <a:gd name="adj" fmla="val 5714"/>
            </a:avLst>
          </a:prstGeom>
          <a:solidFill>
            <a:srgbClr val="162238"/>
          </a:solidFill>
          <a:ln/>
        </p:spPr>
      </p:sp>
      <p:sp>
        <p:nvSpPr>
          <p:cNvPr id="19" name="shape"/>
          <p:cNvSpPr/>
          <p:nvPr/>
        </p:nvSpPr>
        <p:spPr>
          <a:xfrm>
            <a:off x="3886200" y="1463040"/>
            <a:ext cx="109728" cy="192024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4206240" y="1600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</a:rPr>
              <a:t>Таблица растёт бесконечно</a:t>
            </a:r>
            <a:endParaRPr lang="en-US" sz="1500" dirty="0"/>
          </a:p>
        </p:txBody>
      </p:sp>
      <p:sp>
        <p:nvSpPr>
          <p:cNvPr id="21" name="text"/>
          <p:cNvSpPr txBox="1"/>
          <p:nvPr/>
        </p:nvSpPr>
        <p:spPr>
          <a:xfrm>
            <a:off x="4206240" y="20574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Миллиард устройств в мире = миллиард строк в КАЖДОМ коммутаторе планеты. Памяти не хватит, поиск умрёт.</a:t>
            </a:r>
            <a:endParaRPr lang="en-US" sz="1150" dirty="0"/>
          </a:p>
        </p:txBody>
      </p:sp>
      <p:sp>
        <p:nvSpPr>
          <p:cNvPr id="22" name="card"/>
          <p:cNvSpPr/>
          <p:nvPr/>
        </p:nvSpPr>
        <p:spPr>
          <a:xfrm>
            <a:off x="548640" y="3520440"/>
            <a:ext cx="3154680" cy="1920240"/>
          </a:xfrm>
          <a:prstGeom prst="roundRect">
            <a:avLst>
              <a:gd name="adj" fmla="val 5714"/>
            </a:avLst>
          </a:prstGeom>
          <a:solidFill>
            <a:srgbClr val="162238"/>
          </a:solidFill>
          <a:ln/>
        </p:spPr>
      </p:sp>
      <p:sp>
        <p:nvSpPr>
          <p:cNvPr id="23" name="shape"/>
          <p:cNvSpPr/>
          <p:nvPr/>
        </p:nvSpPr>
        <p:spPr>
          <a:xfrm>
            <a:off x="548640" y="3520440"/>
            <a:ext cx="109728" cy="1920240"/>
          </a:xfrm>
          <a:prstGeom prst="roundRect">
            <a:avLst>
              <a:gd name="adj" fmla="val 50000"/>
            </a:avLst>
          </a:prstGeom>
          <a:solidFill>
            <a:srgbClr val="B388FF"/>
          </a:solidFill>
          <a:ln/>
        </p:spPr>
      </p:sp>
      <p:sp>
        <p:nvSpPr>
          <p:cNvPr id="24" name="text"/>
          <p:cNvSpPr txBox="1"/>
          <p:nvPr/>
        </p:nvSpPr>
        <p:spPr>
          <a:xfrm>
            <a:off x="86868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88FF"/>
                </a:solidFill>
              </a:rPr>
              <a:t>Крик слышит весь мир</a:t>
            </a:r>
            <a:endParaRPr lang="en-US" sz="1500" dirty="0"/>
          </a:p>
        </p:txBody>
      </p:sp>
      <p:sp>
        <p:nvSpPr>
          <p:cNvPr id="25" name="text"/>
          <p:cNvSpPr txBox="1"/>
          <p:nvPr/>
        </p:nvSpPr>
        <p:spPr>
          <a:xfrm>
            <a:off x="868680" y="41148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Каждый ARP, каждый DHCP-запрос — во все порты всей планеты. Миллиард криков в секунду. Сеть захлёбывается.</a:t>
            </a:r>
            <a:endParaRPr lang="en-US" sz="1150" dirty="0"/>
          </a:p>
        </p:txBody>
      </p:sp>
      <p:sp>
        <p:nvSpPr>
          <p:cNvPr id="26" name="card"/>
          <p:cNvSpPr/>
          <p:nvPr/>
        </p:nvSpPr>
        <p:spPr>
          <a:xfrm>
            <a:off x="3886200" y="3520440"/>
            <a:ext cx="3154680" cy="1920240"/>
          </a:xfrm>
          <a:prstGeom prst="roundRect">
            <a:avLst>
              <a:gd name="adj" fmla="val 5714"/>
            </a:avLst>
          </a:prstGeom>
          <a:solidFill>
            <a:srgbClr val="162238"/>
          </a:solidFill>
          <a:ln/>
        </p:spPr>
      </p:sp>
      <p:sp>
        <p:nvSpPr>
          <p:cNvPr id="27" name="shape"/>
          <p:cNvSpPr/>
          <p:nvPr/>
        </p:nvSpPr>
        <p:spPr>
          <a:xfrm>
            <a:off x="3886200" y="3520440"/>
            <a:ext cx="109728" cy="1920240"/>
          </a:xfrm>
          <a:prstGeom prst="roundRect">
            <a:avLst>
              <a:gd name="adj" fmla="val 50000"/>
            </a:avLst>
          </a:prstGeom>
          <a:solidFill>
            <a:srgbClr val="5AA9FF"/>
          </a:solidFill>
          <a:ln/>
        </p:spPr>
      </p:sp>
      <p:sp>
        <p:nvSpPr>
          <p:cNvPr id="28" name="text"/>
          <p:cNvSpPr txBox="1"/>
          <p:nvPr/>
        </p:nvSpPr>
        <p:spPr>
          <a:xfrm>
            <a:off x="420624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A9FF"/>
                </a:solidFill>
              </a:rPr>
              <a:t>Нет понятия «далеко»</a:t>
            </a:r>
            <a:endParaRPr lang="en-US" sz="1500" dirty="0"/>
          </a:p>
        </p:txBody>
      </p:sp>
      <p:sp>
        <p:nvSpPr>
          <p:cNvPr id="29" name="text"/>
          <p:cNvSpPr txBox="1"/>
          <p:nvPr/>
        </p:nvSpPr>
        <p:spPr>
          <a:xfrm>
            <a:off x="4206240" y="41148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Коммутатор знает только «за каким портом». Он не умеет выбирать путь, не умеет считать расстояние, не умеет обходить сломанный участок.</a:t>
            </a:r>
            <a:endParaRPr lang="en-US" sz="1150" dirty="0"/>
          </a:p>
        </p:txBody>
      </p:sp>
      <p:sp>
        <p:nvSpPr>
          <p:cNvPr id="30" name="text"/>
          <p:cNvSpPr txBox="1"/>
          <p:nvPr/>
        </p:nvSpPr>
        <p:spPr>
          <a:xfrm>
            <a:off x="548640" y="5623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Каждая из четырёх проблем — не «баг коммутатора», а следствие того, что MAC-адрес ничего не говорит о расположении устройства.</a:t>
            </a:r>
            <a:endParaRPr lang="en-US" sz="1200" dirty="0"/>
          </a:p>
        </p:txBody>
      </p:sp>
      <p:sp>
        <p:nvSpPr>
          <p:cNvPr id="31" name="meme alwaysbeen frame"/>
          <p:cNvSpPr/>
          <p:nvPr/>
        </p:nvSpPr>
        <p:spPr>
          <a:xfrm>
            <a:off x="7059168" y="1430709"/>
            <a:ext cx="4718304" cy="2716421"/>
          </a:xfrm>
          <a:prstGeom prst="roundRect">
            <a:avLst>
              <a:gd name="adj" fmla="val 3366"/>
            </a:avLst>
          </a:prstGeom>
          <a:solidFill>
            <a:srgbClr val="1E2A44"/>
          </a:solidFill>
          <a:ln/>
        </p:spPr>
      </p:sp>
      <p:pic>
        <p:nvPicPr>
          <p:cNvPr id="32" name="meme alwaysbeen" descr="/tmp/claude-0/-home-user-isp/fa3229ae-4615-5662-80eb-d4b94fff89c7/scratchpad/memes_out/alwaysbe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503861"/>
            <a:ext cx="4572000" cy="2570117"/>
          </a:xfrm>
          <a:prstGeom prst="rect">
            <a:avLst/>
          </a:prstGeom>
        </p:spPr>
      </p:pic>
      <p:sp>
        <p:nvSpPr>
          <p:cNvPr id="33" name="card"/>
          <p:cNvSpPr/>
          <p:nvPr/>
        </p:nvSpPr>
        <p:spPr>
          <a:xfrm>
            <a:off x="7132320" y="4297680"/>
            <a:ext cx="4572000" cy="1965960"/>
          </a:xfrm>
          <a:prstGeom prst="roundRect">
            <a:avLst>
              <a:gd name="adj" fmla="val 5581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7360920" y="4297680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Вывод: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коммутатор идеален внутри одной «комнаты». Чтобы соединить миллионы комнат, нужен адрес, который говорит ГДЕ, — и коробка, которая по нему решает, куда дальше.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связать миллиард устройств?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meme boardroom frame"/>
          <p:cNvSpPr/>
          <p:nvPr/>
        </p:nvSpPr>
        <p:spPr>
          <a:xfrm>
            <a:off x="538650" y="1298448"/>
            <a:ext cx="3951899" cy="5084064"/>
          </a:xfrm>
          <a:prstGeom prst="roundRect">
            <a:avLst>
              <a:gd name="adj" fmla="val 2314"/>
            </a:avLst>
          </a:prstGeom>
          <a:solidFill>
            <a:srgbClr val="1E2A44"/>
          </a:solidFill>
          <a:ln/>
        </p:spPr>
      </p:sp>
      <p:pic>
        <p:nvPicPr>
          <p:cNvPr id="15" name="meme boardroom" descr="/tmp/claude-0/-home-user-isp/fa3229ae-4615-5662-80eb-d4b94fff89c7/scratchpad/memes_out/board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802" y="1371600"/>
            <a:ext cx="3805595" cy="4937760"/>
          </a:xfrm>
          <a:prstGeom prst="rect">
            <a:avLst/>
          </a:prstGeom>
        </p:spPr>
      </p:pic>
      <p:sp>
        <p:nvSpPr>
          <p:cNvPr id="16" name="bullets"/>
          <p:cNvSpPr txBox="1"/>
          <p:nvPr/>
        </p:nvSpPr>
        <p:spPr>
          <a:xfrm>
            <a:off x="4937760" y="155448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«Один гигантский коммутатор»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— таблица на миллиард строк и крик на всю планету. В окно.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«Запомнить все MAC мира»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— то же самое, только в каждом коммутаторе. В окно.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«Адреса с иерархией и маршрутизация»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— единственный вариант, который масштабируется. Так появился IP. И тот, кто его предложил, обычно и летит в окно, потому что это сложнее.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4937760" y="5029200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5166360" y="5029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Важно: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коммутатор остаётся. Внутри «комнаты» он лучший. Мы просто строим над ним ещё один этаж.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L3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Сетевой уровень: ГДЕ, а не КТО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IP-адрес, маска, шлюз, ARP, маршрутизатор, таблица маршрутизации, статика, TTL.</a:t>
            </a:r>
            <a:endParaRPr lang="en-US" sz="1800" dirty="0"/>
          </a:p>
        </p:txBody>
      </p:sp>
      <p:sp>
        <p:nvSpPr>
          <p:cNvPr id="5" name="section photo frame"/>
          <p:cNvSpPr/>
          <p:nvPr/>
        </p:nvSpPr>
        <p:spPr>
          <a:xfrm>
            <a:off x="6786753" y="795528"/>
            <a:ext cx="5080254" cy="5266944"/>
          </a:xfrm>
          <a:prstGeom prst="roundRect">
            <a:avLst>
              <a:gd name="adj" fmla="val 1800"/>
            </a:avLst>
          </a:prstGeom>
          <a:solidFill>
            <a:srgbClr val="0B1220"/>
          </a:solidFill>
          <a:ln/>
        </p:spPr>
      </p:sp>
      <p:pic>
        <p:nvPicPr>
          <p:cNvPr id="6" name="section photo" descr="/tmp/claude-0/-home-user-isp/fa3229ae-4615-5662-80eb-d4b94fff89c7/scratchpad/photos_crop/sec_l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905" y="868680"/>
            <a:ext cx="493395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Паспорт против почтового адреса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6304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62238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54864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🪪</a:t>
            </a:r>
            <a:endParaRPr lang="en-US" sz="4400" dirty="0"/>
          </a:p>
        </p:txBody>
      </p:sp>
      <p:sp>
        <p:nvSpPr>
          <p:cNvPr id="16" name="text"/>
          <p:cNvSpPr txBox="1"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MAC = номер паспорта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777240" y="2971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Уникальный номер человека. Чтобы доставить письмо «гражданину № 4512 887 123», придётся спросить ВСЕХ людей на планете: «это ты?».</a:t>
            </a:r>
            <a:endParaRPr lang="en-US" sz="1250" dirty="0"/>
          </a:p>
        </p:txBody>
      </p:sp>
      <p:sp>
        <p:nvSpPr>
          <p:cNvPr id="18" name="card"/>
          <p:cNvSpPr/>
          <p:nvPr/>
        </p:nvSpPr>
        <p:spPr>
          <a:xfrm>
            <a:off x="4114800" y="146304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62238"/>
          </a:solidFill>
          <a:ln/>
        </p:spPr>
      </p:sp>
      <p:sp>
        <p:nvSpPr>
          <p:cNvPr id="19" name="text"/>
          <p:cNvSpPr txBox="1"/>
          <p:nvPr/>
        </p:nvSpPr>
        <p:spPr>
          <a:xfrm>
            <a:off x="4114800" y="1600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📮</a:t>
            </a:r>
            <a:endParaRPr lang="en-US" sz="4400" dirty="0"/>
          </a:p>
        </p:txBody>
      </p:sp>
      <p:sp>
        <p:nvSpPr>
          <p:cNvPr id="20" name="text"/>
          <p:cNvSpPr txBox="1"/>
          <p:nvPr/>
        </p:nvSpPr>
        <p:spPr>
          <a:xfrm>
            <a:off x="434340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IP = почтовый адрес</a:t>
            </a:r>
            <a:endParaRPr lang="en-US" sz="1600" dirty="0"/>
          </a:p>
        </p:txBody>
      </p:sp>
      <p:sp>
        <p:nvSpPr>
          <p:cNvPr id="21" name="text"/>
          <p:cNvSpPr txBox="1"/>
          <p:nvPr/>
        </p:nvSpPr>
        <p:spPr>
          <a:xfrm>
            <a:off x="4343400" y="2971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Страна → город → улица → дом. Почтальон в Москве не знает всех домов Кемерово. Ему достаточно знать: «Кемерово — это вон туда, в тот поезд».</a:t>
            </a:r>
            <a:endParaRPr lang="en-US" sz="1250" dirty="0"/>
          </a:p>
        </p:txBody>
      </p:sp>
      <p:sp>
        <p:nvSpPr>
          <p:cNvPr id="22" name="card"/>
          <p:cNvSpPr/>
          <p:nvPr/>
        </p:nvSpPr>
        <p:spPr>
          <a:xfrm>
            <a:off x="548640" y="5486400"/>
            <a:ext cx="6949440" cy="868680"/>
          </a:xfrm>
          <a:prstGeom prst="roundRect">
            <a:avLst>
              <a:gd name="adj" fmla="val 12632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777240" y="54864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Идея: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IP-адрес — это адрес с иерархией. Старшая часть говорит «в какую сеть», младшая — «какое устройство в ней». И на каждом шаге смотрят только на нужную часть.</a:t>
            </a:r>
            <a:endParaRPr lang="en-US" sz="1300" dirty="0"/>
          </a:p>
        </p:txBody>
      </p:sp>
      <p:sp>
        <p:nvSpPr>
          <p:cNvPr id="24" name="meme expandbrain frame"/>
          <p:cNvSpPr/>
          <p:nvPr/>
        </p:nvSpPr>
        <p:spPr>
          <a:xfrm>
            <a:off x="7917115" y="1298448"/>
            <a:ext cx="3733930" cy="5175504"/>
          </a:xfrm>
          <a:prstGeom prst="roundRect">
            <a:avLst>
              <a:gd name="adj" fmla="val 2449"/>
            </a:avLst>
          </a:prstGeom>
          <a:solidFill>
            <a:srgbClr val="1E2A44"/>
          </a:solidFill>
          <a:ln/>
        </p:spPr>
      </p:sp>
      <p:pic>
        <p:nvPicPr>
          <p:cNvPr id="25" name="meme expandbrain" descr="/tmp/claude-0/-home-user-isp/fa3229ae-4615-5662-80eb-d4b94fff89c7/scratchpad/memes_out/expandb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0267" y="1371600"/>
            <a:ext cx="3587626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IP-адрес и маска: улица и дом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70B14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73152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</a:t>
            </a:r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.15</a:t>
            </a:r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/24</a:t>
            </a:r>
            <a:endParaRPr lang="en-US" sz="4400" dirty="0"/>
          </a:p>
        </p:txBody>
      </p:sp>
      <p:sp>
        <p:nvSpPr>
          <p:cNvPr id="16" name="text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сеть («улица»)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356616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хост («дом»)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49834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маска: сколько бит — улица</a:t>
            </a:r>
            <a:endParaRPr lang="en-US" sz="1200" dirty="0"/>
          </a:p>
        </p:txBody>
      </p:sp>
      <p:sp>
        <p:nvSpPr>
          <p:cNvPr id="19" name="bit"/>
          <p:cNvSpPr/>
          <p:nvPr/>
        </p:nvSpPr>
        <p:spPr>
          <a:xfrm>
            <a:off x="7498080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0" name="bit"/>
          <p:cNvSpPr/>
          <p:nvPr/>
        </p:nvSpPr>
        <p:spPr>
          <a:xfrm>
            <a:off x="7625182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1" name="bit"/>
          <p:cNvSpPr/>
          <p:nvPr/>
        </p:nvSpPr>
        <p:spPr>
          <a:xfrm>
            <a:off x="7752283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2" name="bit"/>
          <p:cNvSpPr/>
          <p:nvPr/>
        </p:nvSpPr>
        <p:spPr>
          <a:xfrm>
            <a:off x="7879385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3" name="bit"/>
          <p:cNvSpPr/>
          <p:nvPr/>
        </p:nvSpPr>
        <p:spPr>
          <a:xfrm>
            <a:off x="8006486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4" name="bit"/>
          <p:cNvSpPr/>
          <p:nvPr/>
        </p:nvSpPr>
        <p:spPr>
          <a:xfrm>
            <a:off x="8133588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5" name="bit"/>
          <p:cNvSpPr/>
          <p:nvPr/>
        </p:nvSpPr>
        <p:spPr>
          <a:xfrm>
            <a:off x="8260690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6" name="bit"/>
          <p:cNvSpPr/>
          <p:nvPr/>
        </p:nvSpPr>
        <p:spPr>
          <a:xfrm>
            <a:off x="8387791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7" name="bit"/>
          <p:cNvSpPr/>
          <p:nvPr/>
        </p:nvSpPr>
        <p:spPr>
          <a:xfrm>
            <a:off x="8578901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8" name="bit"/>
          <p:cNvSpPr/>
          <p:nvPr/>
        </p:nvSpPr>
        <p:spPr>
          <a:xfrm>
            <a:off x="8706002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29" name="bit"/>
          <p:cNvSpPr/>
          <p:nvPr/>
        </p:nvSpPr>
        <p:spPr>
          <a:xfrm>
            <a:off x="8833104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0" name="bit"/>
          <p:cNvSpPr/>
          <p:nvPr/>
        </p:nvSpPr>
        <p:spPr>
          <a:xfrm>
            <a:off x="8960206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1" name="bit"/>
          <p:cNvSpPr/>
          <p:nvPr/>
        </p:nvSpPr>
        <p:spPr>
          <a:xfrm>
            <a:off x="9087307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2" name="bit"/>
          <p:cNvSpPr/>
          <p:nvPr/>
        </p:nvSpPr>
        <p:spPr>
          <a:xfrm>
            <a:off x="9214409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3" name="bit"/>
          <p:cNvSpPr/>
          <p:nvPr/>
        </p:nvSpPr>
        <p:spPr>
          <a:xfrm>
            <a:off x="9341510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4" name="bit"/>
          <p:cNvSpPr/>
          <p:nvPr/>
        </p:nvSpPr>
        <p:spPr>
          <a:xfrm>
            <a:off x="9468612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5" name="bit"/>
          <p:cNvSpPr/>
          <p:nvPr/>
        </p:nvSpPr>
        <p:spPr>
          <a:xfrm>
            <a:off x="9659722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6" name="bit"/>
          <p:cNvSpPr/>
          <p:nvPr/>
        </p:nvSpPr>
        <p:spPr>
          <a:xfrm>
            <a:off x="9786823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7" name="bit"/>
          <p:cNvSpPr/>
          <p:nvPr/>
        </p:nvSpPr>
        <p:spPr>
          <a:xfrm>
            <a:off x="9913925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8" name="bit"/>
          <p:cNvSpPr/>
          <p:nvPr/>
        </p:nvSpPr>
        <p:spPr>
          <a:xfrm>
            <a:off x="10041026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39" name="bit"/>
          <p:cNvSpPr/>
          <p:nvPr/>
        </p:nvSpPr>
        <p:spPr>
          <a:xfrm>
            <a:off x="10168128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40" name="bit"/>
          <p:cNvSpPr/>
          <p:nvPr/>
        </p:nvSpPr>
        <p:spPr>
          <a:xfrm>
            <a:off x="10295230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41" name="bit"/>
          <p:cNvSpPr/>
          <p:nvPr/>
        </p:nvSpPr>
        <p:spPr>
          <a:xfrm>
            <a:off x="10422331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42" name="bit"/>
          <p:cNvSpPr/>
          <p:nvPr/>
        </p:nvSpPr>
        <p:spPr>
          <a:xfrm>
            <a:off x="10549433" y="1600200"/>
            <a:ext cx="123444" cy="365760"/>
          </a:xfrm>
          <a:prstGeom prst="rect">
            <a:avLst/>
          </a:prstGeom>
          <a:solidFill>
            <a:srgbClr val="5AA9FF"/>
          </a:solidFill>
          <a:ln/>
        </p:spPr>
      </p:sp>
      <p:sp>
        <p:nvSpPr>
          <p:cNvPr id="43" name="bit"/>
          <p:cNvSpPr/>
          <p:nvPr/>
        </p:nvSpPr>
        <p:spPr>
          <a:xfrm>
            <a:off x="10740542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4" name="bit"/>
          <p:cNvSpPr/>
          <p:nvPr/>
        </p:nvSpPr>
        <p:spPr>
          <a:xfrm>
            <a:off x="10867644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5" name="bit"/>
          <p:cNvSpPr/>
          <p:nvPr/>
        </p:nvSpPr>
        <p:spPr>
          <a:xfrm>
            <a:off x="10994746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6" name="bit"/>
          <p:cNvSpPr/>
          <p:nvPr/>
        </p:nvSpPr>
        <p:spPr>
          <a:xfrm>
            <a:off x="11121847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7" name="bit"/>
          <p:cNvSpPr/>
          <p:nvPr/>
        </p:nvSpPr>
        <p:spPr>
          <a:xfrm>
            <a:off x="11248949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8" name="bit"/>
          <p:cNvSpPr/>
          <p:nvPr/>
        </p:nvSpPr>
        <p:spPr>
          <a:xfrm>
            <a:off x="11376050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49" name="bit"/>
          <p:cNvSpPr/>
          <p:nvPr/>
        </p:nvSpPr>
        <p:spPr>
          <a:xfrm>
            <a:off x="11503152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50" name="bit"/>
          <p:cNvSpPr/>
          <p:nvPr/>
        </p:nvSpPr>
        <p:spPr>
          <a:xfrm>
            <a:off x="11630254" y="1600200"/>
            <a:ext cx="123444" cy="365760"/>
          </a:xfrm>
          <a:prstGeom prst="rect">
            <a:avLst/>
          </a:prstGeom>
          <a:solidFill>
            <a:srgbClr val="2EE6A6"/>
          </a:solidFill>
          <a:ln/>
        </p:spPr>
      </p:sp>
      <p:sp>
        <p:nvSpPr>
          <p:cNvPr id="51" name="text"/>
          <p:cNvSpPr txBox="1"/>
          <p:nvPr/>
        </p:nvSpPr>
        <p:spPr>
          <a:xfrm>
            <a:off x="749808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192           168            1             15</a:t>
            </a:r>
            <a:endParaRPr lang="en-US" sz="1000" dirty="0"/>
          </a:p>
        </p:txBody>
      </p:sp>
      <p:sp>
        <p:nvSpPr>
          <p:cNvPr id="52" name="text"/>
          <p:cNvSpPr txBox="1"/>
          <p:nvPr/>
        </p:nvSpPr>
        <p:spPr>
          <a:xfrm>
            <a:off x="749808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4 октета × 8 бит = 32 бита. Первые 24 — сеть, последние 8 — номер устройства</a:t>
            </a:r>
            <a:endParaRPr lang="en-US" sz="1000" dirty="0"/>
          </a:p>
        </p:txBody>
      </p:sp>
      <p:sp>
        <p:nvSpPr>
          <p:cNvPr id="53" name="bullets"/>
          <p:cNvSpPr txBox="1"/>
          <p:nvPr/>
        </p:nvSpPr>
        <p:spPr>
          <a:xfrm>
            <a:off x="548640" y="306324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4 числа от 0 до 255,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то есть 32 бита. Маска говорит, где граница между «улицей» и «домом».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/24 = 255.255.255.0: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сеть 192.168.1.0, устройства с .1 по .254. Два адреса заняты: .0 — сама сеть, .255 — «всем на улице» (broadcast).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Одна подсеть = один широковещательный домен.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Внутри неё всё решает коммутатор и MAC. Между подсетями — уже маршрутизатор.</a:t>
            </a:r>
            <a:endParaRPr lang="en-US" sz="1400" dirty="0"/>
          </a:p>
        </p:txBody>
      </p:sp>
      <p:sp>
        <p:nvSpPr>
          <p:cNvPr id="54" name="card"/>
          <p:cNvSpPr/>
          <p:nvPr/>
        </p:nvSpPr>
        <p:spPr>
          <a:xfrm>
            <a:off x="7498080" y="3063240"/>
            <a:ext cx="4206240" cy="3154680"/>
          </a:xfrm>
          <a:prstGeom prst="roundRect">
            <a:avLst>
              <a:gd name="adj" fmla="val 3478"/>
            </a:avLst>
          </a:prstGeom>
          <a:solidFill>
            <a:srgbClr val="162238"/>
          </a:solidFill>
          <a:ln/>
        </p:spPr>
      </p:sp>
      <p:sp>
        <p:nvSpPr>
          <p:cNvPr id="55" name="text"/>
          <p:cNvSpPr txBox="1"/>
          <p:nvPr/>
        </p:nvSpPr>
        <p:spPr>
          <a:xfrm>
            <a:off x="772668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Приватные адреса</a:t>
            </a:r>
            <a:endParaRPr lang="en-US" sz="1500" dirty="0"/>
          </a:p>
        </p:txBody>
      </p:sp>
      <p:sp>
        <p:nvSpPr>
          <p:cNvPr id="56" name="code box"/>
          <p:cNvSpPr/>
          <p:nvPr/>
        </p:nvSpPr>
        <p:spPr>
          <a:xfrm>
            <a:off x="7726680" y="3611880"/>
            <a:ext cx="3749040" cy="1143000"/>
          </a:xfrm>
          <a:prstGeom prst="roundRect">
            <a:avLst>
              <a:gd name="adj" fmla="val 8000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7" name="code"/>
          <p:cNvSpPr txBox="1"/>
          <p:nvPr/>
        </p:nvSpPr>
        <p:spPr>
          <a:xfrm>
            <a:off x="7891272" y="3721608"/>
            <a:ext cx="34198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     – 10.255.255.255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   – 172.31.255.255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  – 192.168.255.255</a:t>
            </a:r>
            <a:endParaRPr lang="en-US" sz="1100" dirty="0"/>
          </a:p>
        </p:txBody>
      </p:sp>
      <p:sp>
        <p:nvSpPr>
          <p:cNvPr id="58" name="text"/>
          <p:cNvSpPr txBox="1"/>
          <p:nvPr/>
        </p:nvSpPr>
        <p:spPr>
          <a:xfrm>
            <a:off x="7726680" y="48463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Не ходят в интернет, могут повторяться в разных квартирах. Поэтому дома у всех 192.168.x.x. Наружу вас выпускает роутер через NAT — об этом на L4.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Правило одно: своя подсеть или чужая?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decision"/>
          <p:cNvSpPr/>
          <p:nvPr/>
        </p:nvSpPr>
        <p:spPr>
          <a:xfrm>
            <a:off x="2103120" y="1417320"/>
            <a:ext cx="3291840" cy="1371600"/>
          </a:xfrm>
          <a:prstGeom prst="diamond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228600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Получатель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 моей подсети?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 flipH="1">
            <a:off x="1143000" y="2103120"/>
            <a:ext cx="960120" cy="1097280"/>
          </a:xfrm>
          <a:prstGeom prst="line">
            <a:avLst/>
          </a:prstGeom>
          <a:noFill/>
          <a:ln w="2540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5394960" y="2103120"/>
            <a:ext cx="960120" cy="109728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18" name="text"/>
          <p:cNvSpPr txBox="1"/>
          <p:nvPr/>
        </p:nvSpPr>
        <p:spPr>
          <a:xfrm>
            <a:off x="137160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да</a:t>
            </a:r>
            <a:endParaRPr lang="en-US" sz="1200" dirty="0"/>
          </a:p>
        </p:txBody>
      </p:sp>
      <p:sp>
        <p:nvSpPr>
          <p:cNvPr id="19" name="text"/>
          <p:cNvSpPr txBox="1"/>
          <p:nvPr/>
        </p:nvSpPr>
        <p:spPr>
          <a:xfrm>
            <a:off x="557784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нет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48640" y="324612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162238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3152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Шлю напрямую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731520" y="37033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Узнаю MAC получателя (ARP) и отправляю кадр через коммутатор. Чистый L2, роутер не нужен.</a:t>
            </a:r>
            <a:endParaRPr lang="en-US" sz="1150" dirty="0"/>
          </a:p>
        </p:txBody>
      </p:sp>
      <p:sp>
        <p:nvSpPr>
          <p:cNvPr id="23" name="card"/>
          <p:cNvSpPr/>
          <p:nvPr/>
        </p:nvSpPr>
        <p:spPr>
          <a:xfrm>
            <a:off x="4206240" y="324612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162238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438912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Шлю шлюзу</a:t>
            </a:r>
            <a:endParaRPr lang="en-US" sz="1400" dirty="0"/>
          </a:p>
        </p:txBody>
      </p:sp>
      <p:sp>
        <p:nvSpPr>
          <p:cNvPr id="25" name="text"/>
          <p:cNvSpPr txBox="1"/>
          <p:nvPr/>
        </p:nvSpPr>
        <p:spPr>
          <a:xfrm>
            <a:off x="4389120" y="37033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Узнаю MAC шлюза (ARP) и отдаю кадр ему. Дальше — его проблемы. Я даже не знаю, где получатель.</a:t>
            </a:r>
            <a:endParaRPr lang="en-US" sz="1150" dirty="0"/>
          </a:p>
        </p:txBody>
      </p:sp>
      <p:sp>
        <p:nvSpPr>
          <p:cNvPr id="26" name="code box"/>
          <p:cNvSpPr/>
          <p:nvPr/>
        </p:nvSpPr>
        <p:spPr>
          <a:xfrm>
            <a:off x="548640" y="5166360"/>
            <a:ext cx="6675120" cy="1097280"/>
          </a:xfrm>
          <a:prstGeom prst="roundRect">
            <a:avLst>
              <a:gd name="adj" fmla="val 8333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7" name="code"/>
          <p:cNvSpPr txBox="1"/>
          <p:nvPr/>
        </p:nvSpPr>
        <p:spPr>
          <a:xfrm>
            <a:off x="713232" y="5276088"/>
            <a:ext cx="6345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Я:        192.168.1.15/24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192.168.1.20  свой,  напрямую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8.8.8.8       чужой, шлюзу 192.168.1.1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7589520" y="516636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7818120" y="5166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Словарь: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шлюз по умолчанию (default gateway) — дверь с твоей «улицы» в город. Обычно это .1 — твой домашний роутер.</a:t>
            </a:r>
            <a:endParaRPr lang="en-US" sz="1200" dirty="0"/>
          </a:p>
        </p:txBody>
      </p:sp>
      <p:sp>
        <p:nvSpPr>
          <p:cNvPr id="30" name="meme pikachu frame"/>
          <p:cNvSpPr/>
          <p:nvPr/>
        </p:nvSpPr>
        <p:spPr>
          <a:xfrm>
            <a:off x="7789746" y="1344168"/>
            <a:ext cx="3714349" cy="3712464"/>
          </a:xfrm>
          <a:prstGeom prst="roundRect">
            <a:avLst>
              <a:gd name="adj" fmla="val 2463"/>
            </a:avLst>
          </a:prstGeom>
          <a:solidFill>
            <a:srgbClr val="1E2A44"/>
          </a:solidFill>
          <a:ln/>
        </p:spPr>
      </p:sp>
      <p:pic>
        <p:nvPicPr>
          <p:cNvPr id="31" name="meme pikachu" descr="/tmp/claude-0/-home-user-isp/fa3229ae-4615-5662-80eb-d4b94fff89c7/scratchpad/memes_out/pikach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98" y="1417320"/>
            <a:ext cx="3568045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ARP: мостик между IP и MAC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c Мой ноут"/>
          <p:cNvSpPr/>
          <p:nvPr/>
        </p:nvSpPr>
        <p:spPr>
          <a:xfrm>
            <a:off x="822960" y="201168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5" name="pc icon"/>
          <p:cNvSpPr txBox="1"/>
          <p:nvPr/>
        </p:nvSpPr>
        <p:spPr>
          <a:xfrm>
            <a:off x="822960" y="20299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6" name="text"/>
          <p:cNvSpPr txBox="1"/>
          <p:nvPr/>
        </p:nvSpPr>
        <p:spPr>
          <a:xfrm>
            <a:off x="548640" y="26151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Мой ноут</a:t>
            </a:r>
            <a:endParaRPr lang="en-US" sz="1100" dirty="0"/>
          </a:p>
        </p:txBody>
      </p:sp>
      <p:sp>
        <p:nvSpPr>
          <p:cNvPr id="17" name="text"/>
          <p:cNvSpPr txBox="1"/>
          <p:nvPr/>
        </p:nvSpPr>
        <p:spPr>
          <a:xfrm>
            <a:off x="365760" y="28437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192.168.1.15</a:t>
            </a:r>
            <a:endParaRPr lang="en-US" sz="900" dirty="0"/>
          </a:p>
        </p:txBody>
      </p:sp>
      <p:sp>
        <p:nvSpPr>
          <p:cNvPr id="18" name="router Роутер"/>
          <p:cNvSpPr/>
          <p:nvPr/>
        </p:nvSpPr>
        <p:spPr>
          <a:xfrm>
            <a:off x="5394960" y="1920240"/>
            <a:ext cx="731520" cy="73152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9" name="arrow"/>
          <p:cNvSpPr/>
          <p:nvPr/>
        </p:nvSpPr>
        <p:spPr>
          <a:xfrm>
            <a:off x="5541264" y="2165299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0" name="arrow"/>
          <p:cNvSpPr/>
          <p:nvPr/>
        </p:nvSpPr>
        <p:spPr>
          <a:xfrm flipH="1">
            <a:off x="5541264" y="2406701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1" name="text"/>
          <p:cNvSpPr txBox="1"/>
          <p:nvPr/>
        </p:nvSpPr>
        <p:spPr>
          <a:xfrm>
            <a:off x="5029200" y="26883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Роутер</a:t>
            </a:r>
            <a:endParaRPr lang="en-US" sz="1100" dirty="0"/>
          </a:p>
        </p:txBody>
      </p:sp>
      <p:sp>
        <p:nvSpPr>
          <p:cNvPr id="22" name="text"/>
          <p:cNvSpPr txBox="1"/>
          <p:nvPr/>
        </p:nvSpPr>
        <p:spPr>
          <a:xfrm>
            <a:off x="4846320" y="2916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900" dirty="0"/>
          </a:p>
        </p:txBody>
      </p:sp>
      <p:sp>
        <p:nvSpPr>
          <p:cNvPr id="23" name="switch "/>
          <p:cNvSpPr/>
          <p:nvPr/>
        </p:nvSpPr>
        <p:spPr>
          <a:xfrm>
            <a:off x="2743200" y="21031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 w="15875">
            <a:solidFill>
              <a:srgbClr val="2EE6A6"/>
            </a:solidFill>
            <a:prstDash val="solid"/>
          </a:ln>
        </p:spPr>
      </p:sp>
      <p:sp>
        <p:nvSpPr>
          <p:cNvPr id="24" name="port"/>
          <p:cNvSpPr/>
          <p:nvPr/>
        </p:nvSpPr>
        <p:spPr>
          <a:xfrm>
            <a:off x="2880360" y="225856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25" name="port"/>
          <p:cNvSpPr/>
          <p:nvPr/>
        </p:nvSpPr>
        <p:spPr>
          <a:xfrm>
            <a:off x="3407664" y="2258568"/>
            <a:ext cx="155448" cy="192024"/>
          </a:xfrm>
          <a:prstGeom prst="rect">
            <a:avLst/>
          </a:prstGeom>
          <a:solidFill>
            <a:srgbClr val="0B1220"/>
          </a:solidFill>
          <a:ln w="9525">
            <a:solidFill>
              <a:srgbClr val="A9B4C6"/>
            </a:solidFill>
            <a:prstDash val="solid"/>
          </a:ln>
        </p:spPr>
      </p:sp>
      <p:sp>
        <p:nvSpPr>
          <p:cNvPr id="26" name="port"/>
          <p:cNvSpPr/>
          <p:nvPr/>
        </p:nvSpPr>
        <p:spPr>
          <a:xfrm>
            <a:off x="3934968" y="2258568"/>
            <a:ext cx="155448" cy="192024"/>
          </a:xfrm>
          <a:prstGeom prst="rect">
            <a:avLst/>
          </a:prstGeom>
          <a:solidFill>
            <a:srgbClr val="0B1220"/>
          </a:solidFill>
          <a:ln w="9525">
            <a:solidFill>
              <a:srgbClr val="A9B4C6"/>
            </a:solidFill>
            <a:prstDash val="solid"/>
          </a:ln>
        </p:spPr>
      </p:sp>
      <p:sp>
        <p:nvSpPr>
          <p:cNvPr id="27" name="port"/>
          <p:cNvSpPr/>
          <p:nvPr/>
        </p:nvSpPr>
        <p:spPr>
          <a:xfrm>
            <a:off x="4462272" y="225856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28" name="arrow"/>
          <p:cNvSpPr/>
          <p:nvPr/>
        </p:nvSpPr>
        <p:spPr>
          <a:xfrm>
            <a:off x="1828800" y="2240280"/>
            <a:ext cx="91440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4754880" y="2240280"/>
            <a:ext cx="6400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 flipH="1">
            <a:off x="4754880" y="2487168"/>
            <a:ext cx="640080" cy="0"/>
          </a:xfrm>
          <a:prstGeom prst="line">
            <a:avLst/>
          </a:prstGeom>
          <a:noFill/>
          <a:ln w="2540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 flipH="1">
            <a:off x="1828800" y="2487168"/>
            <a:ext cx="914400" cy="0"/>
          </a:xfrm>
          <a:prstGeom prst="line">
            <a:avLst/>
          </a:prstGeom>
          <a:noFill/>
          <a:ln w="2540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32" name="text"/>
          <p:cNvSpPr txBox="1"/>
          <p:nvPr/>
        </p:nvSpPr>
        <p:spPr>
          <a:xfrm>
            <a:off x="548640" y="1417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1. Запрос всем (FF:FF:FF:FF:FF:FF): «Кто 192.168.1.1? Скажи свой MAC»</a:t>
            </a:r>
            <a:endParaRPr lang="en-US" sz="1250" dirty="0"/>
          </a:p>
        </p:txBody>
      </p:sp>
      <p:sp>
        <p:nvSpPr>
          <p:cNvPr id="33" name="text"/>
          <p:cNvSpPr txBox="1"/>
          <p:nvPr/>
        </p:nvSpPr>
        <p:spPr>
          <a:xfrm>
            <a:off x="54864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2. Ответ лично мне: «192.168.1.1 — это я, мой MAC 00:11:14:15:A3:93»</a:t>
            </a:r>
            <a:endParaRPr lang="en-US" sz="1250" dirty="0"/>
          </a:p>
        </p:txBody>
      </p:sp>
      <p:sp>
        <p:nvSpPr>
          <p:cNvPr id="34" name="bullets"/>
          <p:cNvSpPr txBox="1"/>
          <p:nvPr/>
        </p:nvSpPr>
        <p:spPr>
          <a:xfrm>
            <a:off x="548640" y="37490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</a:rPr>
              <a:t>Зачем: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кадр доставляется по MAC, а приложение знает только IP. Нужен переводчик «IP → MAC».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</a:rPr>
              <a:t>Как: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крикнуть всем на улице, ответит один — хозяин адреса. Это тот самый broadcast из L2 — вот зачем он был нужен.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</a:rPr>
              <a:t>Запомнить: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ответ лежит в ARP-кэше пару минут, чтобы не кричать перед каждым кадром.</a:t>
            </a:r>
            <a:endParaRPr lang="en-US" sz="1350" dirty="0"/>
          </a:p>
        </p:txBody>
      </p:sp>
      <p:sp>
        <p:nvSpPr>
          <p:cNvPr id="35" name="code box"/>
          <p:cNvSpPr/>
          <p:nvPr/>
        </p:nvSpPr>
        <p:spPr>
          <a:xfrm>
            <a:off x="548640" y="5669280"/>
            <a:ext cx="6583680" cy="548640"/>
          </a:xfrm>
          <a:prstGeom prst="roundRect">
            <a:avLst>
              <a:gd name="adj" fmla="val 16667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6" name="code"/>
          <p:cNvSpPr txBox="1"/>
          <p:nvPr/>
        </p:nvSpPr>
        <p:spPr>
          <a:xfrm>
            <a:off x="713232" y="5779008"/>
            <a:ext cx="6254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 -a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(Windows)    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neigh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(Linux)</a:t>
            </a:r>
            <a:endParaRPr lang="en-US" sz="1200" dirty="0"/>
          </a:p>
        </p:txBody>
      </p:sp>
      <p:sp>
        <p:nvSpPr>
          <p:cNvPr id="37" name="meme catyell frame"/>
          <p:cNvSpPr/>
          <p:nvPr/>
        </p:nvSpPr>
        <p:spPr>
          <a:xfrm>
            <a:off x="7516368" y="1436839"/>
            <a:ext cx="4261104" cy="2795602"/>
          </a:xfrm>
          <a:prstGeom prst="roundRect">
            <a:avLst>
              <a:gd name="adj" fmla="val 3271"/>
            </a:avLst>
          </a:prstGeom>
          <a:solidFill>
            <a:srgbClr val="1E2A44"/>
          </a:solidFill>
          <a:ln/>
        </p:spPr>
      </p:sp>
      <p:pic>
        <p:nvPicPr>
          <p:cNvPr id="38" name="meme catyell" descr="/tmp/claude-0/-home-user-isp/fa3229ae-4615-5662-80eb-d4b94fff89c7/scratchpad/memes_out/catye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509991"/>
            <a:ext cx="4114800" cy="2649298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7589520" y="43891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Отсюда же половина «странных» проблем в сетях: два устройства с одним IP, подмена ARP-ответов (так воруют трафик в кафе), и т. д.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Маршрутизатор: нога в каждой подсети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hoto router_wide.jpg frame"/>
          <p:cNvSpPr/>
          <p:nvPr/>
        </p:nvSpPr>
        <p:spPr>
          <a:xfrm>
            <a:off x="854629" y="1344168"/>
            <a:ext cx="4142901" cy="2066544"/>
          </a:xfrm>
          <a:prstGeom prst="roundRect">
            <a:avLst>
              <a:gd name="adj" fmla="val 4425"/>
            </a:avLst>
          </a:prstGeom>
          <a:solidFill>
            <a:srgbClr val="162238"/>
          </a:solidFill>
          <a:ln/>
        </p:spPr>
      </p:sp>
      <p:pic>
        <p:nvPicPr>
          <p:cNvPr id="15" name="photo router_wide.jpg" descr="/tmp/claude-0/-home-user-isp/fa3229ae-4615-5662-80eb-d4b94fff89c7/scratchpad/photos_crop/router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781" y="1417320"/>
            <a:ext cx="3996597" cy="1920240"/>
          </a:xfrm>
          <a:prstGeom prst="rect">
            <a:avLst/>
          </a:prstGeom>
        </p:spPr>
      </p:pic>
      <p:sp>
        <p:nvSpPr>
          <p:cNvPr id="16" name="caption"/>
          <p:cNvSpPr txBox="1"/>
          <p:nvPr/>
        </p:nvSpPr>
        <p:spPr>
          <a:xfrm>
            <a:off x="854629" y="3447288"/>
            <a:ext cx="4142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Cisco 2800 — офисный маршрутизатор</a:t>
            </a:r>
            <a:endParaRPr lang="en-US" sz="1000" dirty="0"/>
          </a:p>
        </p:txBody>
      </p:sp>
      <p:sp>
        <p:nvSpPr>
          <p:cNvPr id="17" name="photo home_router_wide.jpg frame"/>
          <p:cNvSpPr/>
          <p:nvPr/>
        </p:nvSpPr>
        <p:spPr>
          <a:xfrm>
            <a:off x="854629" y="3858768"/>
            <a:ext cx="4142901" cy="2066544"/>
          </a:xfrm>
          <a:prstGeom prst="roundRect">
            <a:avLst>
              <a:gd name="adj" fmla="val 4425"/>
            </a:avLst>
          </a:prstGeom>
          <a:solidFill>
            <a:srgbClr val="162238"/>
          </a:solidFill>
          <a:ln/>
        </p:spPr>
      </p:sp>
      <p:pic>
        <p:nvPicPr>
          <p:cNvPr id="18" name="photo home_router_wide.jpg" descr="/tmp/claude-0/-home-user-isp/fa3229ae-4615-5662-80eb-d4b94fff89c7/scratchpad/photos_crop/home_router_w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81" y="3931920"/>
            <a:ext cx="3996597" cy="1920240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854629" y="5961888"/>
            <a:ext cx="4142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TP-Link — домашний. Суть та же, железо попроще</a:t>
            </a:r>
            <a:endParaRPr lang="en-US" sz="1000" dirty="0"/>
          </a:p>
        </p:txBody>
      </p:sp>
      <p:sp>
        <p:nvSpPr>
          <p:cNvPr id="20" name="bullets"/>
          <p:cNvSpPr txBox="1"/>
          <p:nvPr/>
        </p:nvSpPr>
        <p:spPr>
          <a:xfrm>
            <a:off x="5760720" y="1417320"/>
            <a:ext cx="5943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Ноги в разных подсетях.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Одна в 192.168.1.0/24 (твоя квартира), другая — в сети провайдера. Он единственный, кто стоит сразу на двух «улицах».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Смотрит на IP получателя, не на MAC.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Снимает конверт L2 (кадр) и выбрасывает его. Читает IP-пакет. Решает, в какую ногу отдать.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Крики через него не проходят.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Broadcast умирает на роутере. Именно он и делит мир на широковещательные домены.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Собирает новый кадр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уже с MAC следующего роутера и отправляет дальше. Пакет IP внутри — тот же самый.</a:t>
            </a:r>
            <a:endParaRPr lang="en-US" sz="1250" dirty="0"/>
          </a:p>
        </p:txBody>
      </p:sp>
      <p:sp>
        <p:nvSpPr>
          <p:cNvPr id="21" name="meme pooh frame"/>
          <p:cNvSpPr/>
          <p:nvPr/>
        </p:nvSpPr>
        <p:spPr>
          <a:xfrm>
            <a:off x="7433501" y="4453128"/>
            <a:ext cx="2598039" cy="1929384"/>
          </a:xfrm>
          <a:prstGeom prst="roundRect">
            <a:avLst>
              <a:gd name="adj" fmla="val 4739"/>
            </a:avLst>
          </a:prstGeom>
          <a:solidFill>
            <a:srgbClr val="1E2A44"/>
          </a:solidFill>
          <a:ln/>
        </p:spPr>
      </p:sp>
      <p:pic>
        <p:nvPicPr>
          <p:cNvPr id="22" name="meme pooh" descr="/tmp/claude-0/-home-user-isp/fa3229ae-4615-5662-80eb-d4b94fff89c7/scratchpad/memes_out/poo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653" y="4526280"/>
            <a:ext cx="2451735" cy="1783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Таблица маршрутизации: шпаргалка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graphicFrame>
        <p:nvGraphicFramePr>
          <p:cNvPr id="27" name="rou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28016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E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E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Куда (next hop)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E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Интерфейс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E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Откуда маршрут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172.16.3.0/24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напрямую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Fa0/0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подключена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172.16.2.0/30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напрямую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Fa0/1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подключена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172.16.17.0/24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172.16.2.2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Fa0/1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— админ прописал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0.0.0.0/0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Fa0/2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— по умолчанию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5" name="code box"/>
          <p:cNvSpPr/>
          <p:nvPr/>
        </p:nvSpPr>
        <p:spPr>
          <a:xfrm>
            <a:off x="548640" y="3611880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code"/>
          <p:cNvSpPr txBox="1"/>
          <p:nvPr/>
        </p:nvSpPr>
        <p:spPr>
          <a:xfrm>
            <a:off x="713232" y="3721608"/>
            <a:ext cx="6620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Router# show ip route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172.16.3.0/24 is directly connected, FastEthernet0/0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172.16.17.0/24 [1/0] via 172.16.2.2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S* 0.0.0.0/0 [1/0] via 10.0.0.1</a:t>
            </a:r>
            <a:endParaRPr lang="en-US" sz="1100" dirty="0"/>
          </a:p>
        </p:txBody>
      </p:sp>
      <p:sp>
        <p:nvSpPr>
          <p:cNvPr id="17" name="bullets"/>
          <p:cNvSpPr txBox="1"/>
          <p:nvPr/>
        </p:nvSpPr>
        <p:spPr>
          <a:xfrm>
            <a:off x="548640" y="489204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Каждая строка —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способ добраться до какой-то сети: «в эту сеть — через того соседа, вон в ту ногу».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Самое точное совпадение побеждает.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Если подходит и /16, и /24 — берут /24 (более узкую маску).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0.0.0.0/0 — «всё остальное».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Маршрут по умолчанию. У тебя дома это роутер провайдера: всё, что не в квартире, — туда.</a:t>
            </a:r>
            <a:endParaRPr lang="en-US" sz="1200" dirty="0"/>
          </a:p>
        </p:txBody>
      </p:sp>
      <p:sp>
        <p:nvSpPr>
          <p:cNvPr id="18" name="meme megamind frame"/>
          <p:cNvSpPr/>
          <p:nvPr/>
        </p:nvSpPr>
        <p:spPr>
          <a:xfrm>
            <a:off x="8073573" y="1389888"/>
            <a:ext cx="3421015" cy="3712464"/>
          </a:xfrm>
          <a:prstGeom prst="roundRect">
            <a:avLst>
              <a:gd name="adj" fmla="val 2673"/>
            </a:avLst>
          </a:prstGeom>
          <a:solidFill>
            <a:srgbClr val="1E2A44"/>
          </a:solidFill>
          <a:ln/>
        </p:spPr>
      </p:sp>
      <p:pic>
        <p:nvPicPr>
          <p:cNvPr id="19" name="meme megamind" descr="/tmp/claude-0/-home-user-isp/fa3229ae-4615-5662-80eb-d4b94fff89c7/scratchpad/memes_out/megami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6725" y="1463040"/>
            <a:ext cx="3274711" cy="3566160"/>
          </a:xfrm>
          <a:prstGeom prst="rect">
            <a:avLst/>
          </a:prstGeom>
        </p:spPr>
      </p:pic>
      <p:sp>
        <p:nvSpPr>
          <p:cNvPr id="20" name="card"/>
          <p:cNvSpPr/>
          <p:nvPr/>
        </p:nvSpPr>
        <p:spPr>
          <a:xfrm>
            <a:off x="7863840" y="51206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2A1A22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8092440" y="5120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А если: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ничего не подошло и default нет — пакет выбрасывают. Молча.</a:t>
            </a:r>
            <a:endParaRPr lang="en-US" sz="1150" dirty="0"/>
          </a:p>
        </p:txBody>
      </p:sp>
      <p:sp>
        <p:nvSpPr>
          <p:cNvPr id="22" name="text"/>
          <p:cNvSpPr txBox="1"/>
          <p:nvPr/>
        </p:nvSpPr>
        <p:spPr>
          <a:xfrm>
            <a:off x="7863840" y="5852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Твой ноут тоже ведёт такую таблицу: route print (Windows), ip route (Linux).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Самый точный маршрут побеждает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meme leftexit frame"/>
          <p:cNvSpPr/>
          <p:nvPr/>
        </p:nvSpPr>
        <p:spPr>
          <a:xfrm>
            <a:off x="494032" y="1344168"/>
            <a:ext cx="5229856" cy="4992624"/>
          </a:xfrm>
          <a:prstGeom prst="roundRect">
            <a:avLst>
              <a:gd name="adj" fmla="val 1832"/>
            </a:avLst>
          </a:prstGeom>
          <a:solidFill>
            <a:srgbClr val="1E2A44"/>
          </a:solidFill>
          <a:ln/>
        </p:spPr>
      </p:sp>
      <p:pic>
        <p:nvPicPr>
          <p:cNvPr id="15" name="meme leftexit" descr="/tmp/claude-0/-home-user-isp/fa3229ae-4615-5662-80eb-d4b94fff89c7/scratchpad/memes_out/leftex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184" y="1417320"/>
            <a:ext cx="5083552" cy="4846320"/>
          </a:xfrm>
          <a:prstGeom prst="rect">
            <a:avLst/>
          </a:prstGeom>
        </p:spPr>
      </p:pic>
      <p:sp>
        <p:nvSpPr>
          <p:cNvPr id="16" name="bullets"/>
          <p:cNvSpPr txBox="1"/>
          <p:nvPr/>
        </p:nvSpPr>
        <p:spPr>
          <a:xfrm>
            <a:off x="6126480" y="146304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В таблице два подходящих маршрута: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0.0.0.0/0 (подходит вообще всем) и 192.168.2.0/24 (подходит только этой улице).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Пакет для 192.168.2.15 уедет по второму —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более узкому, более точному. Это называется longest prefix match: побеждает самая длинная маска.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Так работает весь интернет: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у магистрального роутера 1 000 000 строк, и для каждого пакета он ищет самую точную. Миллионы раз в секунду.</a:t>
            </a:r>
            <a:endParaRPr lang="en-US" sz="1400" dirty="0"/>
          </a:p>
        </p:txBody>
      </p:sp>
      <p:sp>
        <p:nvSpPr>
          <p:cNvPr id="17" name="code box"/>
          <p:cNvSpPr/>
          <p:nvPr/>
        </p:nvSpPr>
        <p:spPr>
          <a:xfrm>
            <a:off x="6126480" y="4617720"/>
            <a:ext cx="5577840" cy="1645920"/>
          </a:xfrm>
          <a:prstGeom prst="roundRect">
            <a:avLst>
              <a:gd name="adj" fmla="val 5556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8" name="code"/>
          <p:cNvSpPr txBox="1"/>
          <p:nvPr/>
        </p:nvSpPr>
        <p:spPr>
          <a:xfrm>
            <a:off x="6291072" y="4727448"/>
            <a:ext cx="52486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172.16.0.0/16   via 172.16.2.22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172.16.10.0/24  via 172.16.2.26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172.16.10.4/30  via 172.16.2.30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пакет на 172.16.10.5 → via 172.16.2.30 (/30)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Путь пакета: кадр меняется, пакет — нет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c Ноут А"/>
          <p:cNvSpPr/>
          <p:nvPr/>
        </p:nvSpPr>
        <p:spPr>
          <a:xfrm>
            <a:off x="640080" y="182880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5" name="pc icon"/>
          <p:cNvSpPr txBox="1"/>
          <p:nvPr/>
        </p:nvSpPr>
        <p:spPr>
          <a:xfrm>
            <a:off x="640080" y="18470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6" name="text"/>
          <p:cNvSpPr txBox="1"/>
          <p:nvPr/>
        </p:nvSpPr>
        <p:spPr>
          <a:xfrm>
            <a:off x="365760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Ноут А</a:t>
            </a:r>
            <a:endParaRPr lang="en-US" sz="1100" dirty="0"/>
          </a:p>
        </p:txBody>
      </p:sp>
      <p:sp>
        <p:nvSpPr>
          <p:cNvPr id="17" name="text"/>
          <p:cNvSpPr txBox="1"/>
          <p:nvPr/>
        </p:nvSpPr>
        <p:spPr>
          <a:xfrm>
            <a:off x="182880" y="2660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10.0.1.5</a:t>
            </a:r>
            <a:endParaRPr lang="en-US" sz="900" dirty="0"/>
          </a:p>
        </p:txBody>
      </p:sp>
      <p:sp>
        <p:nvSpPr>
          <p:cNvPr id="18" name="switch Коммутатор"/>
          <p:cNvSpPr/>
          <p:nvPr/>
        </p:nvSpPr>
        <p:spPr>
          <a:xfrm>
            <a:off x="2103120" y="18745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 w="15875">
            <a:solidFill>
              <a:srgbClr val="2EE6A6"/>
            </a:solidFill>
            <a:prstDash val="solid"/>
          </a:ln>
        </p:spPr>
      </p:sp>
      <p:sp>
        <p:nvSpPr>
          <p:cNvPr id="19" name="port"/>
          <p:cNvSpPr/>
          <p:nvPr/>
        </p:nvSpPr>
        <p:spPr>
          <a:xfrm>
            <a:off x="2240280" y="202996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20" name="port"/>
          <p:cNvSpPr/>
          <p:nvPr/>
        </p:nvSpPr>
        <p:spPr>
          <a:xfrm>
            <a:off x="2554224" y="2029968"/>
            <a:ext cx="155448" cy="192024"/>
          </a:xfrm>
          <a:prstGeom prst="rect">
            <a:avLst/>
          </a:prstGeom>
          <a:solidFill>
            <a:srgbClr val="0B1220"/>
          </a:solidFill>
          <a:ln w="9525">
            <a:solidFill>
              <a:srgbClr val="A9B4C6"/>
            </a:solidFill>
            <a:prstDash val="solid"/>
          </a:ln>
        </p:spPr>
      </p:sp>
      <p:sp>
        <p:nvSpPr>
          <p:cNvPr id="21" name="port"/>
          <p:cNvSpPr/>
          <p:nvPr/>
        </p:nvSpPr>
        <p:spPr>
          <a:xfrm>
            <a:off x="2868168" y="2029968"/>
            <a:ext cx="155448" cy="192024"/>
          </a:xfrm>
          <a:prstGeom prst="rect">
            <a:avLst/>
          </a:prstGeom>
          <a:solidFill>
            <a:srgbClr val="0B1220"/>
          </a:solidFill>
          <a:ln w="9525">
            <a:solidFill>
              <a:srgbClr val="A9B4C6"/>
            </a:solidFill>
            <a:prstDash val="solid"/>
          </a:ln>
        </p:spPr>
      </p:sp>
      <p:sp>
        <p:nvSpPr>
          <p:cNvPr id="22" name="port"/>
          <p:cNvSpPr/>
          <p:nvPr/>
        </p:nvSpPr>
        <p:spPr>
          <a:xfrm>
            <a:off x="3182112" y="2029968"/>
            <a:ext cx="155448" cy="192024"/>
          </a:xfrm>
          <a:prstGeom prst="rect">
            <a:avLst/>
          </a:prstGeom>
          <a:solidFill>
            <a:srgbClr val="2EE6A6"/>
          </a:solidFill>
          <a:ln w="9525">
            <a:solidFill>
              <a:srgbClr val="2EE6A6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2103120" y="2423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Коммутатор</a:t>
            </a:r>
            <a:endParaRPr lang="en-US" sz="1100" dirty="0"/>
          </a:p>
        </p:txBody>
      </p:sp>
      <p:sp>
        <p:nvSpPr>
          <p:cNvPr id="24" name="router R1"/>
          <p:cNvSpPr/>
          <p:nvPr/>
        </p:nvSpPr>
        <p:spPr>
          <a:xfrm>
            <a:off x="4114800" y="1737360"/>
            <a:ext cx="731520" cy="73152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5" name="arrow"/>
          <p:cNvSpPr/>
          <p:nvPr/>
        </p:nvSpPr>
        <p:spPr>
          <a:xfrm>
            <a:off x="4261104" y="1982419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 flipH="1">
            <a:off x="4261104" y="2223821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7" name="text"/>
          <p:cNvSpPr txBox="1"/>
          <p:nvPr/>
        </p:nvSpPr>
        <p:spPr>
          <a:xfrm>
            <a:off x="3749040" y="25054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R1</a:t>
            </a:r>
            <a:endParaRPr lang="en-US" sz="1100" dirty="0"/>
          </a:p>
        </p:txBody>
      </p:sp>
      <p:sp>
        <p:nvSpPr>
          <p:cNvPr id="28" name="text"/>
          <p:cNvSpPr txBox="1"/>
          <p:nvPr/>
        </p:nvSpPr>
        <p:spPr>
          <a:xfrm>
            <a:off x="3566160" y="2734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10.0.1.1</a:t>
            </a:r>
            <a:endParaRPr lang="en-US" sz="900" dirty="0"/>
          </a:p>
        </p:txBody>
      </p:sp>
      <p:sp>
        <p:nvSpPr>
          <p:cNvPr id="29" name="router R2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30" name="arrow"/>
          <p:cNvSpPr/>
          <p:nvPr/>
        </p:nvSpPr>
        <p:spPr>
          <a:xfrm>
            <a:off x="6547104" y="1982419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 flipH="1">
            <a:off x="6547104" y="2223821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2" name="text"/>
          <p:cNvSpPr txBox="1"/>
          <p:nvPr/>
        </p:nvSpPr>
        <p:spPr>
          <a:xfrm>
            <a:off x="6035040" y="25054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R2</a:t>
            </a:r>
            <a:endParaRPr lang="en-US" sz="1100" dirty="0"/>
          </a:p>
        </p:txBody>
      </p:sp>
      <p:sp>
        <p:nvSpPr>
          <p:cNvPr id="33" name="pc Сервер S"/>
          <p:cNvSpPr/>
          <p:nvPr/>
        </p:nvSpPr>
        <p:spPr>
          <a:xfrm>
            <a:off x="8778240" y="182880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34" name="pc icon"/>
          <p:cNvSpPr txBox="1"/>
          <p:nvPr/>
        </p:nvSpPr>
        <p:spPr>
          <a:xfrm>
            <a:off x="8778240" y="18470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5" name="text"/>
          <p:cNvSpPr txBox="1"/>
          <p:nvPr/>
        </p:nvSpPr>
        <p:spPr>
          <a:xfrm>
            <a:off x="8503920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Сервер S</a:t>
            </a:r>
            <a:endParaRPr lang="en-US" sz="1100" dirty="0"/>
          </a:p>
        </p:txBody>
      </p:sp>
      <p:sp>
        <p:nvSpPr>
          <p:cNvPr id="36" name="text"/>
          <p:cNvSpPr txBox="1"/>
          <p:nvPr/>
        </p:nvSpPr>
        <p:spPr>
          <a:xfrm>
            <a:off x="8321040" y="2660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10.0.9.7</a:t>
            </a:r>
            <a:endParaRPr lang="en-US" sz="900" dirty="0"/>
          </a:p>
        </p:txBody>
      </p:sp>
      <p:sp>
        <p:nvSpPr>
          <p:cNvPr id="37" name="arrow"/>
          <p:cNvSpPr/>
          <p:nvPr/>
        </p:nvSpPr>
        <p:spPr>
          <a:xfrm>
            <a:off x="1645920" y="2112264"/>
            <a:ext cx="45720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8" name="arrow"/>
          <p:cNvSpPr/>
          <p:nvPr/>
        </p:nvSpPr>
        <p:spPr>
          <a:xfrm>
            <a:off x="3474720" y="2112264"/>
            <a:ext cx="64008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9" name="arrow"/>
          <p:cNvSpPr/>
          <p:nvPr/>
        </p:nvSpPr>
        <p:spPr>
          <a:xfrm>
            <a:off x="4846320" y="2112264"/>
            <a:ext cx="155448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40" name="arrow"/>
          <p:cNvSpPr/>
          <p:nvPr/>
        </p:nvSpPr>
        <p:spPr>
          <a:xfrm>
            <a:off x="7132320" y="2112264"/>
            <a:ext cx="164592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41" name="frame envelope"/>
          <p:cNvSpPr/>
          <p:nvPr/>
        </p:nvSpPr>
        <p:spPr>
          <a:xfrm>
            <a:off x="548640" y="3200400"/>
            <a:ext cx="3566160" cy="1417320"/>
          </a:xfrm>
          <a:prstGeom prst="rect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42" name="text"/>
          <p:cNvSpPr txBox="1"/>
          <p:nvPr/>
        </p:nvSpPr>
        <p:spPr>
          <a:xfrm>
            <a:off x="68580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Кадр 1 (L2)</a:t>
            </a:r>
            <a:endParaRPr lang="en-US" sz="1200" dirty="0"/>
          </a:p>
        </p:txBody>
      </p:sp>
      <p:sp>
        <p:nvSpPr>
          <p:cNvPr id="43" name="text"/>
          <p:cNvSpPr txBox="1"/>
          <p:nvPr/>
        </p:nvSpPr>
        <p:spPr>
          <a:xfrm>
            <a:off x="6858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A → MAC R1</a:t>
            </a:r>
            <a:endParaRPr lang="en-US" sz="1100" dirty="0"/>
          </a:p>
        </p:txBody>
      </p:sp>
      <p:sp>
        <p:nvSpPr>
          <p:cNvPr id="44" name="frame envelope"/>
          <p:cNvSpPr/>
          <p:nvPr/>
        </p:nvSpPr>
        <p:spPr>
          <a:xfrm>
            <a:off x="4297680" y="3200400"/>
            <a:ext cx="3566160" cy="1417320"/>
          </a:xfrm>
          <a:prstGeom prst="rect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45" name="text"/>
          <p:cNvSpPr txBox="1"/>
          <p:nvPr/>
        </p:nvSpPr>
        <p:spPr>
          <a:xfrm>
            <a:off x="44348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Кадр 2 (L2)</a:t>
            </a:r>
            <a:endParaRPr lang="en-US" sz="1200" dirty="0"/>
          </a:p>
        </p:txBody>
      </p:sp>
      <p:sp>
        <p:nvSpPr>
          <p:cNvPr id="46" name="text"/>
          <p:cNvSpPr txBox="1"/>
          <p:nvPr/>
        </p:nvSpPr>
        <p:spPr>
          <a:xfrm>
            <a:off x="443484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R1 → MAC R2</a:t>
            </a:r>
            <a:endParaRPr lang="en-US" sz="1100" dirty="0"/>
          </a:p>
        </p:txBody>
      </p:sp>
      <p:sp>
        <p:nvSpPr>
          <p:cNvPr id="47" name="frame envelope"/>
          <p:cNvSpPr/>
          <p:nvPr/>
        </p:nvSpPr>
        <p:spPr>
          <a:xfrm>
            <a:off x="8046720" y="3200400"/>
            <a:ext cx="3566160" cy="1417320"/>
          </a:xfrm>
          <a:prstGeom prst="rect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48" name="text"/>
          <p:cNvSpPr txBox="1"/>
          <p:nvPr/>
        </p:nvSpPr>
        <p:spPr>
          <a:xfrm>
            <a:off x="818388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Кадр 3 (L2)</a:t>
            </a:r>
            <a:endParaRPr lang="en-US" sz="1200" dirty="0"/>
          </a:p>
        </p:txBody>
      </p:sp>
      <p:sp>
        <p:nvSpPr>
          <p:cNvPr id="49" name="text"/>
          <p:cNvSpPr txBox="1"/>
          <p:nvPr/>
        </p:nvSpPr>
        <p:spPr>
          <a:xfrm>
            <a:off x="81838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 R2 → MAC S</a:t>
            </a:r>
            <a:endParaRPr lang="en-US" sz="1100" dirty="0"/>
          </a:p>
        </p:txBody>
      </p:sp>
      <p:sp>
        <p:nvSpPr>
          <p:cNvPr id="50" name="ip packet"/>
          <p:cNvSpPr/>
          <p:nvPr/>
        </p:nvSpPr>
        <p:spPr>
          <a:xfrm>
            <a:off x="685800" y="3886200"/>
            <a:ext cx="10789920" cy="594360"/>
          </a:xfrm>
          <a:prstGeom prst="rect">
            <a:avLst/>
          </a:prstGeom>
          <a:solidFill>
            <a:srgbClr val="10243A"/>
          </a:solidFill>
          <a:ln w="19050">
            <a:solidFill>
              <a:srgbClr val="5AA9FF"/>
            </a:solidFill>
            <a:prstDash val="solid"/>
          </a:ln>
        </p:spPr>
      </p:sp>
      <p:sp>
        <p:nvSpPr>
          <p:cNvPr id="51" name="text"/>
          <p:cNvSpPr txBox="1"/>
          <p:nvPr/>
        </p:nvSpPr>
        <p:spPr>
          <a:xfrm>
            <a:off x="822960" y="3886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Пакет IP (L3):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 10.0.1.5 → к 10.0.9.7   — один и тот же на всём пути</a:t>
            </a:r>
            <a:endParaRPr lang="en-US" sz="1250" dirty="0"/>
          </a:p>
        </p:txBody>
      </p:sp>
      <p:sp>
        <p:nvSpPr>
          <p:cNvPr id="52" name="text"/>
          <p:cNvSpPr txBox="1"/>
          <p:nvPr/>
        </p:nvSpPr>
        <p:spPr>
          <a:xfrm>
            <a:off x="548640" y="47548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не знает, где S. Он знает только, что S — не на его улице, и отдаёт кадр шлюзу R1. R1 снимает конверт, смотрит в таблицу, кладёт пакет в новый конверт для R2. R2 — то же самое для S. Ни один из них не знает, что будет с пакетом дальше.</a:t>
            </a:r>
            <a:endParaRPr lang="en-US" sz="1250" dirty="0"/>
          </a:p>
        </p:txBody>
      </p:sp>
      <p:sp>
        <p:nvSpPr>
          <p:cNvPr id="53" name="card"/>
          <p:cNvSpPr/>
          <p:nvPr/>
        </p:nvSpPr>
        <p:spPr>
          <a:xfrm>
            <a:off x="6675120" y="4709160"/>
            <a:ext cx="5029200" cy="1600200"/>
          </a:xfrm>
          <a:prstGeom prst="roundRect">
            <a:avLst>
              <a:gd name="adj" fmla="val 6857"/>
            </a:avLst>
          </a:prstGeom>
          <a:solidFill>
            <a:srgbClr val="1A2238"/>
          </a:solidFill>
          <a:ln/>
        </p:spPr>
      </p:sp>
      <p:sp>
        <p:nvSpPr>
          <p:cNvPr id="54" name="text"/>
          <p:cNvSpPr txBox="1"/>
          <p:nvPr/>
        </p:nvSpPr>
        <p:spPr>
          <a:xfrm>
            <a:off x="6812280" y="4663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55" name="text"/>
          <p:cNvSpPr txBox="1"/>
          <p:nvPr/>
        </p:nvSpPr>
        <p:spPr>
          <a:xfrm>
            <a:off x="7178040" y="491032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chemeClr val="tx1"/>
                </a:solidFill>
              </a:rPr>
              <a:t>Заголовок Ethernet полностью отбрасывается, и при отправке формируется совершенно новый кадр. Но IP-пакет остаётся неизменным. Каждый маршрутизатор принимает решение самостоятельно и не знает ничего о чужих таблицах.</a:t>
            </a:r>
            <a:endParaRPr lang="en-US" sz="1100" dirty="0"/>
          </a:p>
        </p:txBody>
      </p:sp>
      <p:sp>
        <p:nvSpPr>
          <p:cNvPr id="56" name="text"/>
          <p:cNvSpPr txBox="1"/>
          <p:nvPr/>
        </p:nvSpPr>
        <p:spPr>
          <a:xfrm>
            <a:off x="7178040" y="5897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linkmeup, часть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Статика: админ пишет маршруты руками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router Москва"/>
          <p:cNvSpPr/>
          <p:nvPr/>
        </p:nvSpPr>
        <p:spPr>
          <a:xfrm>
            <a:off x="1188720" y="1828800"/>
            <a:ext cx="777240" cy="77724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5" name="arrow"/>
          <p:cNvSpPr/>
          <p:nvPr/>
        </p:nvSpPr>
        <p:spPr>
          <a:xfrm>
            <a:off x="1344168" y="2089175"/>
            <a:ext cx="466344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 flipH="1">
            <a:off x="1344168" y="2345665"/>
            <a:ext cx="466344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7" name="text"/>
          <p:cNvSpPr txBox="1"/>
          <p:nvPr/>
        </p:nvSpPr>
        <p:spPr>
          <a:xfrm>
            <a:off x="822960" y="26426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Москва</a:t>
            </a:r>
            <a:endParaRPr lang="en-US" sz="1100" dirty="0"/>
          </a:p>
        </p:txBody>
      </p:sp>
      <p:sp>
        <p:nvSpPr>
          <p:cNvPr id="18" name="text"/>
          <p:cNvSpPr txBox="1"/>
          <p:nvPr/>
        </p:nvSpPr>
        <p:spPr>
          <a:xfrm>
            <a:off x="640080" y="287121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172.16.0.0/20</a:t>
            </a:r>
            <a:endParaRPr lang="en-US" sz="900" dirty="0"/>
          </a:p>
        </p:txBody>
      </p:sp>
      <p:sp>
        <p:nvSpPr>
          <p:cNvPr id="19" name="router Питер"/>
          <p:cNvSpPr/>
          <p:nvPr/>
        </p:nvSpPr>
        <p:spPr>
          <a:xfrm>
            <a:off x="5120640" y="1645920"/>
            <a:ext cx="777240" cy="77724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0" name="arrow"/>
          <p:cNvSpPr/>
          <p:nvPr/>
        </p:nvSpPr>
        <p:spPr>
          <a:xfrm>
            <a:off x="5276088" y="1906295"/>
            <a:ext cx="466344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1" name="arrow"/>
          <p:cNvSpPr/>
          <p:nvPr/>
        </p:nvSpPr>
        <p:spPr>
          <a:xfrm flipH="1">
            <a:off x="5276088" y="2162785"/>
            <a:ext cx="466344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2" name="text"/>
          <p:cNvSpPr txBox="1"/>
          <p:nvPr/>
        </p:nvSpPr>
        <p:spPr>
          <a:xfrm>
            <a:off x="4754880" y="245973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Питер</a:t>
            </a:r>
            <a:endParaRPr lang="en-US" sz="1100" dirty="0"/>
          </a:p>
        </p:txBody>
      </p:sp>
      <p:sp>
        <p:nvSpPr>
          <p:cNvPr id="23" name="text"/>
          <p:cNvSpPr txBox="1"/>
          <p:nvPr/>
        </p:nvSpPr>
        <p:spPr>
          <a:xfrm>
            <a:off x="4572000" y="26883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172.16.16.0/21</a:t>
            </a:r>
            <a:endParaRPr lang="en-US" sz="900" dirty="0"/>
          </a:p>
        </p:txBody>
      </p:sp>
      <p:sp>
        <p:nvSpPr>
          <p:cNvPr id="24" name="router Кемерово"/>
          <p:cNvSpPr/>
          <p:nvPr/>
        </p:nvSpPr>
        <p:spPr>
          <a:xfrm>
            <a:off x="3291840" y="3566160"/>
            <a:ext cx="777240" cy="77724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5" name="arrow"/>
          <p:cNvSpPr/>
          <p:nvPr/>
        </p:nvSpPr>
        <p:spPr>
          <a:xfrm>
            <a:off x="3447288" y="3826535"/>
            <a:ext cx="466344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 flipH="1">
            <a:off x="3447288" y="4083025"/>
            <a:ext cx="466344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7" name="text"/>
          <p:cNvSpPr txBox="1"/>
          <p:nvPr/>
        </p:nvSpPr>
        <p:spPr>
          <a:xfrm>
            <a:off x="2926080" y="437997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Кемерово</a:t>
            </a:r>
            <a:endParaRPr lang="en-US" sz="1100" dirty="0"/>
          </a:p>
        </p:txBody>
      </p:sp>
      <p:sp>
        <p:nvSpPr>
          <p:cNvPr id="28" name="text"/>
          <p:cNvSpPr txBox="1"/>
          <p:nvPr/>
        </p:nvSpPr>
        <p:spPr>
          <a:xfrm>
            <a:off x="2743200" y="46085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172.16.24.0/22</a:t>
            </a:r>
            <a:endParaRPr lang="en-US" sz="900" dirty="0"/>
          </a:p>
        </p:txBody>
      </p:sp>
      <p:sp>
        <p:nvSpPr>
          <p:cNvPr id="29" name="arrow"/>
          <p:cNvSpPr/>
          <p:nvPr/>
        </p:nvSpPr>
        <p:spPr>
          <a:xfrm flipV="1">
            <a:off x="1965960" y="2011680"/>
            <a:ext cx="3154680" cy="182880"/>
          </a:xfrm>
          <a:prstGeom prst="line">
            <a:avLst/>
          </a:prstGeom>
          <a:noFill/>
          <a:ln w="25400">
            <a:solidFill>
              <a:srgbClr val="A9B4C6"/>
            </a:solidFill>
            <a:prstDash val="solid"/>
          </a:ln>
        </p:spPr>
      </p:sp>
      <p:sp>
        <p:nvSpPr>
          <p:cNvPr id="30" name="arrow"/>
          <p:cNvSpPr/>
          <p:nvPr/>
        </p:nvSpPr>
        <p:spPr>
          <a:xfrm>
            <a:off x="1828800" y="2514600"/>
            <a:ext cx="1600200" cy="1097280"/>
          </a:xfrm>
          <a:prstGeom prst="line">
            <a:avLst/>
          </a:prstGeom>
          <a:noFill/>
          <a:ln w="25400">
            <a:solidFill>
              <a:srgbClr val="A9B4C6"/>
            </a:solidFill>
            <a:prstDash val="solid"/>
          </a:ln>
        </p:spPr>
      </p:sp>
      <p:sp>
        <p:nvSpPr>
          <p:cNvPr id="31" name="arrow"/>
          <p:cNvSpPr/>
          <p:nvPr/>
        </p:nvSpPr>
        <p:spPr>
          <a:xfrm flipH="1">
            <a:off x="4023360" y="2423160"/>
            <a:ext cx="1463040" cy="1188720"/>
          </a:xfrm>
          <a:prstGeom prst="line">
            <a:avLst/>
          </a:prstGeom>
          <a:noFill/>
          <a:ln w="25400">
            <a:solidFill>
              <a:srgbClr val="A9B4C6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30175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172.16.2.0/30</a:t>
            </a:r>
            <a:endParaRPr lang="en-US" sz="900" dirty="0"/>
          </a:p>
        </p:txBody>
      </p:sp>
      <p:sp>
        <p:nvSpPr>
          <p:cNvPr id="33" name="text"/>
          <p:cNvSpPr txBox="1"/>
          <p:nvPr/>
        </p:nvSpPr>
        <p:spPr>
          <a:xfrm>
            <a:off x="1280160" y="3154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172.16.2.4/30</a:t>
            </a:r>
            <a:endParaRPr lang="en-US" sz="900" dirty="0"/>
          </a:p>
        </p:txBody>
      </p:sp>
      <p:sp>
        <p:nvSpPr>
          <p:cNvPr id="34" name="text"/>
          <p:cNvSpPr txBox="1"/>
          <p:nvPr/>
        </p:nvSpPr>
        <p:spPr>
          <a:xfrm>
            <a:off x="4937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линки от провайдера</a:t>
            </a:r>
            <a:endParaRPr lang="en-US" sz="900" dirty="0"/>
          </a:p>
        </p:txBody>
      </p:sp>
      <p:sp>
        <p:nvSpPr>
          <p:cNvPr id="35" name="text"/>
          <p:cNvSpPr txBox="1"/>
          <p:nvPr/>
        </p:nvSpPr>
        <p:spPr>
          <a:xfrm>
            <a:off x="548640" y="1371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Компания «Лифт ми Ап» открыла заводы в Питере и Кемерово (сюжет linkmeup)</a:t>
            </a:r>
            <a:endParaRPr lang="en-US" sz="1100" dirty="0"/>
          </a:p>
        </p:txBody>
      </p:sp>
      <p:sp>
        <p:nvSpPr>
          <p:cNvPr id="36" name="code box"/>
          <p:cNvSpPr/>
          <p:nvPr/>
        </p:nvSpPr>
        <p:spPr>
          <a:xfrm>
            <a:off x="548640" y="4754880"/>
            <a:ext cx="6675120" cy="1508760"/>
          </a:xfrm>
          <a:prstGeom prst="roundRect">
            <a:avLst>
              <a:gd name="adj" fmla="val 6061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7" name="code"/>
          <p:cNvSpPr txBox="1"/>
          <p:nvPr/>
        </p:nvSpPr>
        <p:spPr>
          <a:xfrm>
            <a:off x="713232" y="4864608"/>
            <a:ext cx="63459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На московском роутере: как попасть в Питер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172.16.16.0 255.255.248.0 172.16.2.2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 сеть Питера /21     через соседа на линке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Одна строка вместо восьми /24 — суммирование</a:t>
            </a:r>
            <a:endParaRPr lang="en-US" sz="1100" dirty="0"/>
          </a:p>
        </p:txBody>
      </p:sp>
      <p:sp>
        <p:nvSpPr>
          <p:cNvPr id="38" name="bullets"/>
          <p:cNvSpPr txBox="1"/>
          <p:nvPr/>
        </p:nvSpPr>
        <p:spPr>
          <a:xfrm>
            <a:off x="7406640" y="42976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Работает, пока сеть маленькая: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три роутера, пять строк. Прописал — и забыл.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3"/>
                </a:solidFill>
              </a:rPr>
              <a:t>Линк упал — никто не узнает.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Таблица статична. Пакеты уходят в мёртвый линк, пока админ не проснётся.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Дальше — динамика: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OSPF, BGP. Роутеры сами рассказывают друг другу о сетях и перестраивают таблицы при авариях.</a:t>
            </a:r>
            <a:endParaRPr lang="en-US" sz="1200" dirty="0"/>
          </a:p>
        </p:txBody>
      </p:sp>
      <p:sp>
        <p:nvSpPr>
          <p:cNvPr id="39" name="meme gru frame"/>
          <p:cNvSpPr/>
          <p:nvPr/>
        </p:nvSpPr>
        <p:spPr>
          <a:xfrm>
            <a:off x="7333488" y="1337441"/>
            <a:ext cx="4443984" cy="2902959"/>
          </a:xfrm>
          <a:prstGeom prst="roundRect">
            <a:avLst>
              <a:gd name="adj" fmla="val 3150"/>
            </a:avLst>
          </a:prstGeom>
          <a:solidFill>
            <a:srgbClr val="1E2A44"/>
          </a:solidFill>
          <a:ln/>
        </p:spPr>
      </p:sp>
      <p:pic>
        <p:nvPicPr>
          <p:cNvPr id="40" name="meme gru" descr="/tmp/claude-0/-home-user-isp/fa3229ae-4615-5662-80eb-d4b94fff89c7/scratchpad/memes_out/gr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10593"/>
            <a:ext cx="4297680" cy="27566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Обратный маршрут: классическая ошибка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meme anakin frame"/>
          <p:cNvSpPr/>
          <p:nvPr/>
        </p:nvSpPr>
        <p:spPr>
          <a:xfrm>
            <a:off x="475488" y="1344168"/>
            <a:ext cx="4992624" cy="4992624"/>
          </a:xfrm>
          <a:prstGeom prst="roundRect">
            <a:avLst>
              <a:gd name="adj" fmla="val 1832"/>
            </a:avLst>
          </a:prstGeom>
          <a:solidFill>
            <a:srgbClr val="1E2A44"/>
          </a:solidFill>
          <a:ln/>
        </p:spPr>
      </p:sp>
      <p:pic>
        <p:nvPicPr>
          <p:cNvPr id="15" name="meme anakin" descr="/tmp/claude-0/-home-user-isp/fa3229ae-4615-5662-80eb-d4b94fff89c7/scratchpad/memes_out/anak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846320" cy="4846320"/>
          </a:xfrm>
          <a:prstGeom prst="rect">
            <a:avLst/>
          </a:prstGeom>
        </p:spPr>
      </p:pic>
      <p:sp>
        <p:nvSpPr>
          <p:cNvPr id="16" name="router Москва"/>
          <p:cNvSpPr/>
          <p:nvPr/>
        </p:nvSpPr>
        <p:spPr>
          <a:xfrm>
            <a:off x="6309360" y="1828800"/>
            <a:ext cx="731520" cy="73152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7" name="arrow"/>
          <p:cNvSpPr/>
          <p:nvPr/>
        </p:nvSpPr>
        <p:spPr>
          <a:xfrm>
            <a:off x="6455664" y="2073859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 flipH="1">
            <a:off x="6455664" y="2315261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9" name="text"/>
          <p:cNvSpPr txBox="1"/>
          <p:nvPr/>
        </p:nvSpPr>
        <p:spPr>
          <a:xfrm>
            <a:off x="5943600" y="2596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Москва</a:t>
            </a:r>
            <a:endParaRPr lang="en-US" sz="1100" dirty="0"/>
          </a:p>
        </p:txBody>
      </p:sp>
      <p:sp>
        <p:nvSpPr>
          <p:cNvPr id="20" name="text"/>
          <p:cNvSpPr txBox="1"/>
          <p:nvPr/>
        </p:nvSpPr>
        <p:spPr>
          <a:xfrm>
            <a:off x="5760720" y="2825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172.16.0.0/20</a:t>
            </a:r>
            <a:endParaRPr lang="en-US" sz="900" dirty="0"/>
          </a:p>
        </p:txBody>
      </p:sp>
      <p:sp>
        <p:nvSpPr>
          <p:cNvPr id="21" name="router Питер"/>
          <p:cNvSpPr/>
          <p:nvPr/>
        </p:nvSpPr>
        <p:spPr>
          <a:xfrm>
            <a:off x="9966960" y="1828800"/>
            <a:ext cx="731520" cy="73152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2" name="arrow"/>
          <p:cNvSpPr/>
          <p:nvPr/>
        </p:nvSpPr>
        <p:spPr>
          <a:xfrm>
            <a:off x="10113264" y="2073859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 flipH="1">
            <a:off x="10113264" y="2315261"/>
            <a:ext cx="438912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4" name="text"/>
          <p:cNvSpPr txBox="1"/>
          <p:nvPr/>
        </p:nvSpPr>
        <p:spPr>
          <a:xfrm>
            <a:off x="9601200" y="25968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Питер</a:t>
            </a:r>
            <a:endParaRPr lang="en-US" sz="1100" dirty="0"/>
          </a:p>
        </p:txBody>
      </p:sp>
      <p:sp>
        <p:nvSpPr>
          <p:cNvPr id="25" name="text"/>
          <p:cNvSpPr txBox="1"/>
          <p:nvPr/>
        </p:nvSpPr>
        <p:spPr>
          <a:xfrm>
            <a:off x="9418320" y="28254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172.16.16.0/21</a:t>
            </a:r>
            <a:endParaRPr lang="en-US" sz="900" dirty="0"/>
          </a:p>
        </p:txBody>
      </p:sp>
      <p:sp>
        <p:nvSpPr>
          <p:cNvPr id="26" name="arrow"/>
          <p:cNvSpPr/>
          <p:nvPr/>
        </p:nvSpPr>
        <p:spPr>
          <a:xfrm>
            <a:off x="7040880" y="2103120"/>
            <a:ext cx="2926080" cy="0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7" name="arrow"/>
          <p:cNvSpPr/>
          <p:nvPr/>
        </p:nvSpPr>
        <p:spPr>
          <a:xfrm flipH="1">
            <a:off x="7040880" y="2377440"/>
            <a:ext cx="2926080" cy="0"/>
          </a:xfrm>
          <a:prstGeom prst="line">
            <a:avLst/>
          </a:prstGeom>
          <a:noFill/>
          <a:ln w="31750">
            <a:solidFill>
              <a:srgbClr val="FF4D6D"/>
            </a:solidFill>
            <a:prstDash val="dash"/>
            <a:tailEnd type="triangle"/>
          </a:ln>
        </p:spPr>
      </p:sp>
      <p:sp>
        <p:nvSpPr>
          <p:cNvPr id="28" name="text"/>
          <p:cNvSpPr txBox="1"/>
          <p:nvPr/>
        </p:nvSpPr>
        <p:spPr>
          <a:xfrm>
            <a:off x="704088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запрос: маршрут есть ✓</a:t>
            </a:r>
            <a:endParaRPr lang="en-US" sz="1100" dirty="0"/>
          </a:p>
        </p:txBody>
      </p:sp>
      <p:sp>
        <p:nvSpPr>
          <p:cNvPr id="29" name="text"/>
          <p:cNvSpPr txBox="1"/>
          <p:nvPr/>
        </p:nvSpPr>
        <p:spPr>
          <a:xfrm>
            <a:off x="704088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ответ: «а где Москва?» ✗</a:t>
            </a:r>
            <a:endParaRPr lang="en-US" sz="1100" dirty="0"/>
          </a:p>
        </p:txBody>
      </p:sp>
      <p:sp>
        <p:nvSpPr>
          <p:cNvPr id="30" name="bullets"/>
          <p:cNvSpPr txBox="1"/>
          <p:nvPr/>
        </p:nvSpPr>
        <p:spPr>
          <a:xfrm>
            <a:off x="5852160" y="356616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Пакет из Москвы дошёл до Питера.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Питерский сервер отвечает — а его роутер не знает, где сеть 172.16.0.0/20. Пакет в мусор. Пинг «не идёт».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Маршрут — это одна сторона дороги.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Чтобы ping заработал, нужны два: туда и обратно. Каждый роутер думает только о своём направлении.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Типичный симптом: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tracert доходит до середины и там звёздочки. Проверяй таблицу на ОБОИХ концах.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TTL: чтобы пакет не бегал вечно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1732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1A2238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68580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16" name="text"/>
          <p:cNvSpPr txBox="1"/>
          <p:nvPr/>
        </p:nvSpPr>
        <p:spPr>
          <a:xfrm>
            <a:off x="1051560" y="1618488"/>
            <a:ext cx="6263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chemeClr val="tx1"/>
                </a:solidFill>
              </a:rPr>
              <a:t>Мальчик сказал маме: «Я хочу кушать». Мама отправила его к папе.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chemeClr val="tx1"/>
                </a:solidFill>
              </a:rPr>
              <a:t>Мальчик сказал папе: «Я хочу кушать». Папа отправил его к маме.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chemeClr val="tx1"/>
                </a:solidFill>
              </a:rPr>
              <a:t>Мальчик сказал маме: «Я хочу кушать». Мама отправила его к папе.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chemeClr val="tx1"/>
                </a:solidFill>
              </a:rPr>
              <a:t>И бегал так мальчик, пока в один момент не упал.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chemeClr val="tx1"/>
                </a:solidFill>
              </a:rPr>
              <a:t>Что случилось с мальчиком? TTL кончился.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1051560" y="33375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linkmeup, «Сети для самых маленьких», часть 3</a:t>
            </a:r>
            <a:endParaRPr lang="en-US" sz="1100" dirty="0"/>
          </a:p>
        </p:txBody>
      </p:sp>
      <p:sp>
        <p:nvSpPr>
          <p:cNvPr id="18" name="bullets"/>
          <p:cNvSpPr txBox="1"/>
          <p:nvPr/>
        </p:nvSpPr>
        <p:spPr>
          <a:xfrm>
            <a:off x="548640" y="393192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Петли случаются: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два роутера с неправильной статикой отправляют пакет друг другу. Без защиты он крутился бы вечно и забил бы линк.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TTL (time to live) —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число в заголовке IP, обычно 64 или 128. Каждый роутер уменьшает его на 1. Дошло до 0 — пакет выбрасывают и шлют отправителю «время вышло».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traceroute — хитрость: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шлёт пакеты с TTL = 1, 2, 3… Каждый следующий роутер «умирает» на своём шаге и отвечает — так мы видим весь путь.</a:t>
            </a:r>
            <a:endParaRPr lang="en-US" sz="1300" dirty="0"/>
          </a:p>
        </p:txBody>
      </p:sp>
      <p:sp>
        <p:nvSpPr>
          <p:cNvPr id="19" name="meme skeleton frame"/>
          <p:cNvSpPr/>
          <p:nvPr/>
        </p:nvSpPr>
        <p:spPr>
          <a:xfrm>
            <a:off x="7918944" y="1344168"/>
            <a:ext cx="3730271" cy="4992624"/>
          </a:xfrm>
          <a:prstGeom prst="roundRect">
            <a:avLst>
              <a:gd name="adj" fmla="val 2451"/>
            </a:avLst>
          </a:prstGeom>
          <a:solidFill>
            <a:srgbClr val="1E2A44"/>
          </a:solidFill>
          <a:ln/>
        </p:spPr>
      </p:sp>
      <p:pic>
        <p:nvPicPr>
          <p:cNvPr id="20" name="meme skeleton" descr="/tmp/claude-0/-home-user-isp/fa3229ae-4615-5662-80eb-d4b94fff89c7/scratchpad/memes_out/skelet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2096" y="1417320"/>
            <a:ext cx="3583967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Динамическая маршрутизация: тизер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meme distracted frame"/>
          <p:cNvSpPr/>
          <p:nvPr/>
        </p:nvSpPr>
        <p:spPr>
          <a:xfrm>
            <a:off x="475488" y="1344168"/>
            <a:ext cx="6181344" cy="4169664"/>
          </a:xfrm>
          <a:prstGeom prst="roundRect">
            <a:avLst>
              <a:gd name="adj" fmla="val 2193"/>
            </a:avLst>
          </a:prstGeom>
          <a:solidFill>
            <a:srgbClr val="1E2A44"/>
          </a:solidFill>
          <a:ln/>
        </p:spPr>
      </p:sp>
      <p:pic>
        <p:nvPicPr>
          <p:cNvPr id="15" name="meme distracted" descr="/tmp/claude-0/-home-user-isp/fa3229ae-4615-5662-80eb-d4b94fff89c7/scratchpad/memes_out/distrac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035040" cy="4023360"/>
          </a:xfrm>
          <a:prstGeom prst="rect">
            <a:avLst/>
          </a:prstGeom>
        </p:spPr>
      </p:pic>
      <p:sp>
        <p:nvSpPr>
          <p:cNvPr id="16" name="bullets"/>
          <p:cNvSpPr txBox="1"/>
          <p:nvPr/>
        </p:nvSpPr>
        <p:spPr>
          <a:xfrm>
            <a:off x="6949440" y="141732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Статика не масштабируется.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Сто роутеров — тысячи строк руками, и каждая авария — ночной звонок.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Роутеры умеют разговаривать.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Каждый рассказывает соседям: «у меня есть сеть такая-то». Соседи пересказывают дальше. Таблицы строятся сами.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4"/>
                </a:solidFill>
              </a:rPr>
              <a:t>OSPF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— внутри одной организации: быстро находит кратчайший путь и перестраивает его за секунды при обрыве.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2"/>
                </a:solidFill>
              </a:rPr>
              <a:t>BGP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— между провайдерами. Весь интернет держится на нём. Именно BGP мы и поднимем в нашем проекте.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548640" y="5623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В linkmeup это части 6 (OSPF, EIGRP) и 8 (BGP)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Интернет — это сеть сетей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bullets"/>
          <p:cNvSpPr txBox="1"/>
          <p:nvPr/>
        </p:nvSpPr>
        <p:spPr>
          <a:xfrm>
            <a:off x="548640" y="1463040"/>
            <a:ext cx="6035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</a:rPr>
              <a:t>≈ 75 000 автономных систем (AS).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Провайдеры, компании, университеты, облака. У каждой — свои сети, свои роутеры, свои правила внутри.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</a:rPr>
              <a:t>Между собой они договариваются по BGP.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«У меня есть вот такие сети, ходи через меня». Никакого центра. Никто не знает всю карту — только соседей и направления.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</a:rPr>
              <a:t>Твой пакет до YouTube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проходит 10–15 роутеров в 3–5 разных AS. Каждый — по своей таблице, каждый — пересобирая кадр.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2"/>
                </a:solidFill>
              </a:rPr>
              <a:t>У нас тоже есть AS: 4242421527.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В DN42 — сети энтузиастов с настоящим BGP, но без риска положить реальный интернет.</a:t>
            </a:r>
            <a:endParaRPr lang="en-US" sz="1350" dirty="0"/>
          </a:p>
        </p:txBody>
      </p:sp>
      <p:sp>
        <p:nvSpPr>
          <p:cNvPr id="15" name="photo opte.jpg frame"/>
          <p:cNvSpPr/>
          <p:nvPr/>
        </p:nvSpPr>
        <p:spPr>
          <a:xfrm>
            <a:off x="6967728" y="1298448"/>
            <a:ext cx="4718304" cy="4718304"/>
          </a:xfrm>
          <a:prstGeom prst="roundRect">
            <a:avLst>
              <a:gd name="adj" fmla="val 1938"/>
            </a:avLst>
          </a:prstGeom>
          <a:solidFill>
            <a:srgbClr val="162238"/>
          </a:solidFill>
          <a:ln/>
        </p:spPr>
      </p:sp>
      <p:pic>
        <p:nvPicPr>
          <p:cNvPr id="16" name="photo opte.jpg" descr="/tmp/claude-0/-home-user-isp/fa3229ae-4615-5662-80eb-d4b94fff89c7/scratchpad/photos/op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371600"/>
            <a:ext cx="4572000" cy="4572000"/>
          </a:xfrm>
          <a:prstGeom prst="rect">
            <a:avLst/>
          </a:prstGeom>
        </p:spPr>
      </p:pic>
      <p:sp>
        <p:nvSpPr>
          <p:cNvPr id="17" name="caption"/>
          <p:cNvSpPr txBox="1"/>
          <p:nvPr/>
        </p:nvSpPr>
        <p:spPr>
          <a:xfrm>
            <a:off x="6967728" y="605332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Карта интернета (The Opte Project): каждая линия — связь между двумя сетями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это выглядит у взрослых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hoto bigiron.jpg frame"/>
          <p:cNvSpPr/>
          <p:nvPr/>
        </p:nvSpPr>
        <p:spPr>
          <a:xfrm>
            <a:off x="668518" y="1344168"/>
            <a:ext cx="3326404" cy="3895344"/>
          </a:xfrm>
          <a:prstGeom prst="roundRect">
            <a:avLst>
              <a:gd name="adj" fmla="val 2749"/>
            </a:avLst>
          </a:prstGeom>
          <a:solidFill>
            <a:srgbClr val="162238"/>
          </a:solidFill>
          <a:ln/>
        </p:spPr>
      </p:sp>
      <p:pic>
        <p:nvPicPr>
          <p:cNvPr id="15" name="photo bigiron.jpg" descr="/tmp/claude-0/-home-user-isp/fa3229ae-4615-5662-80eb-d4b94fff89c7/scratchpad/photos_crop/bigir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70" y="1417320"/>
            <a:ext cx="3180100" cy="3749040"/>
          </a:xfrm>
          <a:prstGeom prst="rect">
            <a:avLst/>
          </a:prstGeom>
        </p:spPr>
      </p:pic>
      <p:sp>
        <p:nvSpPr>
          <p:cNvPr id="16" name="caption"/>
          <p:cNvSpPr txBox="1"/>
          <p:nvPr/>
        </p:nvSpPr>
        <p:spPr>
          <a:xfrm>
            <a:off x="668518" y="5276088"/>
            <a:ext cx="3326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Cisco Nexus 7700 — коммутатор для дата-центра. Стоит как квартира</a:t>
            </a:r>
            <a:endParaRPr lang="en-US" sz="1000" dirty="0"/>
          </a:p>
        </p:txBody>
      </p:sp>
      <p:sp>
        <p:nvSpPr>
          <p:cNvPr id="17" name="photo ixp.jpg frame"/>
          <p:cNvSpPr/>
          <p:nvPr/>
        </p:nvSpPr>
        <p:spPr>
          <a:xfrm>
            <a:off x="4419364" y="1344168"/>
            <a:ext cx="3322792" cy="3895344"/>
          </a:xfrm>
          <a:prstGeom prst="roundRect">
            <a:avLst>
              <a:gd name="adj" fmla="val 2752"/>
            </a:avLst>
          </a:prstGeom>
          <a:solidFill>
            <a:srgbClr val="162238"/>
          </a:solidFill>
          <a:ln/>
        </p:spPr>
      </p:sp>
      <p:pic>
        <p:nvPicPr>
          <p:cNvPr id="18" name="photo ixp.jpg" descr="/tmp/claude-0/-home-user-isp/fa3229ae-4615-5662-80eb-d4b94fff89c7/scratchpad/photos_crop/ix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516" y="1417320"/>
            <a:ext cx="3176488" cy="3749040"/>
          </a:xfrm>
          <a:prstGeom prst="rect">
            <a:avLst/>
          </a:prstGeom>
        </p:spPr>
      </p:pic>
      <p:sp>
        <p:nvSpPr>
          <p:cNvPr id="19" name="caption"/>
          <p:cNvSpPr txBox="1"/>
          <p:nvPr/>
        </p:nvSpPr>
        <p:spPr>
          <a:xfrm>
            <a:off x="4419364" y="5276088"/>
            <a:ext cx="3322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DE-CIX, Франкфурт — точка обмена трафиком: здесь провайдеры втыкаются друг в друга</a:t>
            </a:r>
            <a:endParaRPr lang="en-US" sz="1000" dirty="0"/>
          </a:p>
        </p:txBody>
      </p:sp>
      <p:sp>
        <p:nvSpPr>
          <p:cNvPr id="20" name="photo amsix.jpg frame"/>
          <p:cNvSpPr/>
          <p:nvPr/>
        </p:nvSpPr>
        <p:spPr>
          <a:xfrm>
            <a:off x="8167811" y="1344168"/>
            <a:ext cx="3323978" cy="3895344"/>
          </a:xfrm>
          <a:prstGeom prst="roundRect">
            <a:avLst>
              <a:gd name="adj" fmla="val 2751"/>
            </a:avLst>
          </a:prstGeom>
          <a:solidFill>
            <a:srgbClr val="162238"/>
          </a:solidFill>
          <a:ln/>
        </p:spPr>
      </p:sp>
      <p:pic>
        <p:nvPicPr>
          <p:cNvPr id="21" name="photo amsix.jpg" descr="/tmp/claude-0/-home-user-isp/fa3229ae-4615-5662-80eb-d4b94fff89c7/scratchpad/photos_crop/amsix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963" y="1417320"/>
            <a:ext cx="3177674" cy="3749040"/>
          </a:xfrm>
          <a:prstGeom prst="rect">
            <a:avLst/>
          </a:prstGeom>
        </p:spPr>
      </p:pic>
      <p:sp>
        <p:nvSpPr>
          <p:cNvPr id="22" name="caption"/>
          <p:cNvSpPr txBox="1"/>
          <p:nvPr/>
        </p:nvSpPr>
        <p:spPr>
          <a:xfrm>
            <a:off x="8167811" y="5276088"/>
            <a:ext cx="3323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AMS-IX, Амстердам — оптические патч-панели. Та же идея, что витая пара, только из стекла</a:t>
            </a:r>
            <a:endParaRPr lang="en-US" sz="1000" dirty="0"/>
          </a:p>
        </p:txBody>
      </p:sp>
      <p:sp>
        <p:nvSpPr>
          <p:cNvPr id="23" name="text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Те же три правила коммутатора, та же таблица маршрутизации. Просто портов 500, а строк в таблице — миллион.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L4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Транспорт: кому и дошло ли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Порты (второй смысл слова), TCP, UDP — и NAT как бонус.</a:t>
            </a:r>
            <a:endParaRPr lang="en-US" sz="1800" dirty="0"/>
          </a:p>
        </p:txBody>
      </p:sp>
      <p:sp>
        <p:nvSpPr>
          <p:cNvPr id="5" name="section photo frame"/>
          <p:cNvSpPr/>
          <p:nvPr/>
        </p:nvSpPr>
        <p:spPr>
          <a:xfrm>
            <a:off x="6785012" y="795528"/>
            <a:ext cx="5083737" cy="5266944"/>
          </a:xfrm>
          <a:prstGeom prst="roundRect">
            <a:avLst>
              <a:gd name="adj" fmla="val 1799"/>
            </a:avLst>
          </a:prstGeom>
          <a:solidFill>
            <a:srgbClr val="0B1220"/>
          </a:solidFill>
          <a:ln/>
        </p:spPr>
      </p:sp>
      <p:pic>
        <p:nvPicPr>
          <p:cNvPr id="6" name="section photo" descr="/tmp/claude-0/-home-user-isp/fa3229ae-4615-5662-80eb-d4b94fff89c7/scratchpad/photos_crop/sec_l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164" y="868680"/>
            <a:ext cx="493743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Пакет дошёл до компа. А дальше кому?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17320"/>
            <a:ext cx="3657600" cy="3246120"/>
          </a:xfrm>
          <a:prstGeom prst="roundRect">
            <a:avLst>
              <a:gd name="adj" fmla="val 3380"/>
            </a:avLst>
          </a:prstGeom>
          <a:solidFill>
            <a:srgbClr val="162238"/>
          </a:solidFill>
          <a:ln w="19050">
            <a:solidFill>
              <a:srgbClr val="5AA9FF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7315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💻 Мой ноут · 192.168.1.15</a:t>
            </a:r>
            <a:endParaRPr lang="en-US" sz="1300" dirty="0"/>
          </a:p>
        </p:txBody>
      </p:sp>
      <p:sp>
        <p:nvSpPr>
          <p:cNvPr id="16" name="shape"/>
          <p:cNvSpPr/>
          <p:nvPr/>
        </p:nvSpPr>
        <p:spPr>
          <a:xfrm>
            <a:off x="777240" y="196596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91440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Браузер</a:t>
            </a:r>
            <a:endParaRPr lang="en-US" sz="1250" dirty="0"/>
          </a:p>
        </p:txBody>
      </p:sp>
      <p:sp>
        <p:nvSpPr>
          <p:cNvPr id="18" name="text"/>
          <p:cNvSpPr txBox="1"/>
          <p:nvPr/>
        </p:nvSpPr>
        <p:spPr>
          <a:xfrm>
            <a:off x="219456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:443 ← HTTPS</a:t>
            </a:r>
            <a:endParaRPr lang="en-US" sz="1050" dirty="0"/>
          </a:p>
        </p:txBody>
      </p:sp>
      <p:sp>
        <p:nvSpPr>
          <p:cNvPr id="19" name="shape"/>
          <p:cNvSpPr/>
          <p:nvPr/>
        </p:nvSpPr>
        <p:spPr>
          <a:xfrm>
            <a:off x="777240" y="2624328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914400" y="26243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Discord</a:t>
            </a:r>
            <a:endParaRPr lang="en-US" sz="1250" dirty="0"/>
          </a:p>
        </p:txBody>
      </p:sp>
      <p:sp>
        <p:nvSpPr>
          <p:cNvPr id="21" name="text"/>
          <p:cNvSpPr txBox="1"/>
          <p:nvPr/>
        </p:nvSpPr>
        <p:spPr>
          <a:xfrm>
            <a:off x="219456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:50010 ← голос</a:t>
            </a:r>
            <a:endParaRPr lang="en-US" sz="1050" dirty="0"/>
          </a:p>
        </p:txBody>
      </p:sp>
      <p:sp>
        <p:nvSpPr>
          <p:cNvPr id="22" name="shape"/>
          <p:cNvSpPr/>
          <p:nvPr/>
        </p:nvSpPr>
        <p:spPr>
          <a:xfrm>
            <a:off x="777240" y="3282696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914400" y="32826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Minecraft</a:t>
            </a:r>
            <a:endParaRPr lang="en-US" sz="1250" dirty="0"/>
          </a:p>
        </p:txBody>
      </p:sp>
      <p:sp>
        <p:nvSpPr>
          <p:cNvPr id="24" name="text"/>
          <p:cNvSpPr txBox="1"/>
          <p:nvPr/>
        </p:nvSpPr>
        <p:spPr>
          <a:xfrm>
            <a:off x="2194560" y="32826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:25565 ← игра</a:t>
            </a:r>
            <a:endParaRPr lang="en-US" sz="1050" dirty="0"/>
          </a:p>
        </p:txBody>
      </p:sp>
      <p:sp>
        <p:nvSpPr>
          <p:cNvPr id="25" name="shape"/>
          <p:cNvSpPr/>
          <p:nvPr/>
        </p:nvSpPr>
        <p:spPr>
          <a:xfrm>
            <a:off x="777240" y="3941064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/>
        </p:spPr>
      </p:sp>
      <p:sp>
        <p:nvSpPr>
          <p:cNvPr id="26" name="text"/>
          <p:cNvSpPr txBox="1"/>
          <p:nvPr/>
        </p:nvSpPr>
        <p:spPr>
          <a:xfrm>
            <a:off x="914400" y="39410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Steam</a:t>
            </a:r>
            <a:endParaRPr lang="en-US" sz="1250" dirty="0"/>
          </a:p>
        </p:txBody>
      </p:sp>
      <p:sp>
        <p:nvSpPr>
          <p:cNvPr id="27" name="text"/>
          <p:cNvSpPr txBox="1"/>
          <p:nvPr/>
        </p:nvSpPr>
        <p:spPr>
          <a:xfrm>
            <a:off x="2194560" y="39410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:27015 ← апдейт</a:t>
            </a:r>
            <a:endParaRPr lang="en-US" sz="1050" dirty="0"/>
          </a:p>
        </p:txBody>
      </p:sp>
      <p:sp>
        <p:nvSpPr>
          <p:cNvPr id="28" name="arrow"/>
          <p:cNvSpPr/>
          <p:nvPr/>
        </p:nvSpPr>
        <p:spPr>
          <a:xfrm flipH="1">
            <a:off x="4206240" y="2240280"/>
            <a:ext cx="1097280" cy="0"/>
          </a:xfrm>
          <a:prstGeom prst="line">
            <a:avLst/>
          </a:prstGeom>
          <a:noFill/>
          <a:ln w="3175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9" name="text"/>
          <p:cNvSpPr txBox="1"/>
          <p:nvPr/>
        </p:nvSpPr>
        <p:spPr>
          <a:xfrm>
            <a:off x="434340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пакет для 192.168.1.15:443</a:t>
            </a:r>
            <a:endParaRPr lang="en-US" sz="1050" dirty="0"/>
          </a:p>
        </p:txBody>
      </p:sp>
      <p:sp>
        <p:nvSpPr>
          <p:cNvPr id="30" name="bullets"/>
          <p:cNvSpPr txBox="1"/>
          <p:nvPr/>
        </p:nvSpPr>
        <p:spPr>
          <a:xfrm>
            <a:off x="548640" y="48463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IP — это дом. Порт — номер квартиры.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На одном компе 50 программ ждут данных. По IP пакет дошёл до двери, а дальше кому?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Порт — просто число от 0 до 65535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в заголовке TCP или UDP. Серверы сидят на известных: 80 (HTTP), 443 (HTTPS), 22 (SSH), 53 (DNS).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IP + порт = сокет.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142.250.74.46:443 — «вот этот сервер, вот эта программа на нём». Твой браузер открывает десятки таких.</a:t>
            </a:r>
            <a:endParaRPr lang="en-US" sz="1200" dirty="0"/>
          </a:p>
        </p:txBody>
      </p:sp>
      <p:sp>
        <p:nvSpPr>
          <p:cNvPr id="31" name="meme spiderman frame"/>
          <p:cNvSpPr/>
          <p:nvPr/>
        </p:nvSpPr>
        <p:spPr>
          <a:xfrm>
            <a:off x="6876288" y="1378458"/>
            <a:ext cx="4901184" cy="2820924"/>
          </a:xfrm>
          <a:prstGeom prst="roundRect">
            <a:avLst>
              <a:gd name="adj" fmla="val 3241"/>
            </a:avLst>
          </a:prstGeom>
          <a:solidFill>
            <a:srgbClr val="1E2A44"/>
          </a:solidFill>
          <a:ln/>
        </p:spPr>
      </p:sp>
      <p:pic>
        <p:nvPicPr>
          <p:cNvPr id="32" name="meme spiderman" descr="/tmp/claude-0/-home-user-isp/fa3229ae-4615-5662-80eb-d4b94fff89c7/scratchpad/memes_out/spiderm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51610"/>
            <a:ext cx="4754880" cy="2674620"/>
          </a:xfrm>
          <a:prstGeom prst="rect">
            <a:avLst/>
          </a:prstGeom>
        </p:spPr>
      </p:pic>
      <p:sp>
        <p:nvSpPr>
          <p:cNvPr id="33" name="card"/>
          <p:cNvSpPr/>
          <p:nvPr/>
        </p:nvSpPr>
        <p:spPr>
          <a:xfrm>
            <a:off x="6949440" y="438912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2A1A22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7178040" y="43891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Два смысла: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физический порт (дырка RJ45 на L1) и порт TCP/UDP (число на L4) — разные вещи с одним названием. Контекст подскажет: «воткни в 3-й порт» и «открой порт 443».</a:t>
            </a:r>
            <a:endParaRPr lang="en-US" sz="1200" dirty="0"/>
          </a:p>
        </p:txBody>
      </p:sp>
      <p:sp>
        <p:nvSpPr>
          <p:cNvPr id="35" name="text"/>
          <p:cNvSpPr txBox="1"/>
          <p:nvPr/>
        </p:nvSpPr>
        <p:spPr>
          <a:xfrm>
            <a:off x="6949440" y="5715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Кто какие порты слушает: netstat -an (Windows) · ss -tulpn (Linux)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Проблема 2: IP ничего не обещает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17320"/>
            <a:ext cx="3154680" cy="1737360"/>
          </a:xfrm>
          <a:prstGeom prst="roundRect">
            <a:avLst>
              <a:gd name="adj" fmla="val 6316"/>
            </a:avLst>
          </a:prstGeom>
          <a:solidFill>
            <a:srgbClr val="162238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73152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📭</a:t>
            </a:r>
            <a:endParaRPr lang="en-US" sz="2600" dirty="0"/>
          </a:p>
        </p:txBody>
      </p:sp>
      <p:sp>
        <p:nvSpPr>
          <p:cNvPr id="16" name="text"/>
          <p:cNvSpPr txBox="1"/>
          <p:nvPr/>
        </p:nvSpPr>
        <p:spPr>
          <a:xfrm>
            <a:off x="141732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4D6D"/>
                </a:solidFill>
              </a:rPr>
              <a:t>Потеряться</a:t>
            </a:r>
            <a:endParaRPr lang="en-US" sz="1500" dirty="0"/>
          </a:p>
        </p:txBody>
      </p:sp>
      <p:sp>
        <p:nvSpPr>
          <p:cNvPr id="17" name="text"/>
          <p:cNvSpPr txBox="1"/>
          <p:nvPr/>
        </p:nvSpPr>
        <p:spPr>
          <a:xfrm>
            <a:off x="731520" y="21945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Роутер перегружен — буфер полон — пакет выброшен. Никому не сообщили.</a:t>
            </a:r>
            <a:endParaRPr lang="en-US" sz="1150" dirty="0"/>
          </a:p>
        </p:txBody>
      </p:sp>
      <p:sp>
        <p:nvSpPr>
          <p:cNvPr id="18" name="card"/>
          <p:cNvSpPr/>
          <p:nvPr/>
        </p:nvSpPr>
        <p:spPr>
          <a:xfrm>
            <a:off x="3886200" y="1417320"/>
            <a:ext cx="3154680" cy="1737360"/>
          </a:xfrm>
          <a:prstGeom prst="roundRect">
            <a:avLst>
              <a:gd name="adj" fmla="val 6316"/>
            </a:avLst>
          </a:prstGeom>
          <a:solidFill>
            <a:srgbClr val="162238"/>
          </a:solidFill>
          <a:ln/>
        </p:spPr>
      </p:sp>
      <p:sp>
        <p:nvSpPr>
          <p:cNvPr id="19" name="text"/>
          <p:cNvSpPr txBox="1"/>
          <p:nvPr/>
        </p:nvSpPr>
        <p:spPr>
          <a:xfrm>
            <a:off x="406908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📬</a:t>
            </a:r>
            <a:endParaRPr lang="en-US" sz="2600" dirty="0"/>
          </a:p>
        </p:txBody>
      </p:sp>
      <p:sp>
        <p:nvSpPr>
          <p:cNvPr id="20" name="text"/>
          <p:cNvSpPr txBox="1"/>
          <p:nvPr/>
        </p:nvSpPr>
        <p:spPr>
          <a:xfrm>
            <a:off x="4754880" y="1600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</a:rPr>
              <a:t>Прийти дважды</a:t>
            </a:r>
            <a:endParaRPr lang="en-US" sz="1500" dirty="0"/>
          </a:p>
        </p:txBody>
      </p:sp>
      <p:sp>
        <p:nvSpPr>
          <p:cNvPr id="21" name="text"/>
          <p:cNvSpPr txBox="1"/>
          <p:nvPr/>
        </p:nvSpPr>
        <p:spPr>
          <a:xfrm>
            <a:off x="4069080" y="21945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Отправитель повторил, а первый всё-таки дошёл. Теперь их два.</a:t>
            </a:r>
            <a:endParaRPr lang="en-US" sz="1150" dirty="0"/>
          </a:p>
        </p:txBody>
      </p:sp>
      <p:sp>
        <p:nvSpPr>
          <p:cNvPr id="22" name="card"/>
          <p:cNvSpPr/>
          <p:nvPr/>
        </p:nvSpPr>
        <p:spPr>
          <a:xfrm>
            <a:off x="548640" y="3291840"/>
            <a:ext cx="3154680" cy="1737360"/>
          </a:xfrm>
          <a:prstGeom prst="roundRect">
            <a:avLst>
              <a:gd name="adj" fmla="val 6316"/>
            </a:avLst>
          </a:prstGeom>
          <a:solidFill>
            <a:srgbClr val="162238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731520" y="3429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🔀</a:t>
            </a:r>
            <a:endParaRPr lang="en-US" sz="2600" dirty="0"/>
          </a:p>
        </p:txBody>
      </p:sp>
      <p:sp>
        <p:nvSpPr>
          <p:cNvPr id="24" name="text"/>
          <p:cNvSpPr txBox="1"/>
          <p:nvPr/>
        </p:nvSpPr>
        <p:spPr>
          <a:xfrm>
            <a:off x="141732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88FF"/>
                </a:solidFill>
              </a:rPr>
              <a:t>Прийти не по порядку</a:t>
            </a:r>
            <a:endParaRPr lang="en-US" sz="1500" dirty="0"/>
          </a:p>
        </p:txBody>
      </p:sp>
      <p:sp>
        <p:nvSpPr>
          <p:cNvPr id="25" name="text"/>
          <p:cNvSpPr txBox="1"/>
          <p:nvPr/>
        </p:nvSpPr>
        <p:spPr>
          <a:xfrm>
            <a:off x="731520" y="4069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Пакеты №1 и №2 пошли разными путями. №2 приехал первым.</a:t>
            </a:r>
            <a:endParaRPr lang="en-US" sz="1150" dirty="0"/>
          </a:p>
        </p:txBody>
      </p:sp>
      <p:sp>
        <p:nvSpPr>
          <p:cNvPr id="26" name="card"/>
          <p:cNvSpPr/>
          <p:nvPr/>
        </p:nvSpPr>
        <p:spPr>
          <a:xfrm>
            <a:off x="3886200" y="3291840"/>
            <a:ext cx="3154680" cy="1737360"/>
          </a:xfrm>
          <a:prstGeom prst="roundRect">
            <a:avLst>
              <a:gd name="adj" fmla="val 6316"/>
            </a:avLst>
          </a:prstGeom>
          <a:solidFill>
            <a:srgbClr val="162238"/>
          </a:solidFill>
          <a:ln/>
        </p:spPr>
      </p:sp>
      <p:sp>
        <p:nvSpPr>
          <p:cNvPr id="27" name="text"/>
          <p:cNvSpPr txBox="1"/>
          <p:nvPr/>
        </p:nvSpPr>
        <p:spPr>
          <a:xfrm>
            <a:off x="4069080" y="3429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💥</a:t>
            </a:r>
            <a:endParaRPr lang="en-US" sz="2600" dirty="0"/>
          </a:p>
        </p:txBody>
      </p:sp>
      <p:sp>
        <p:nvSpPr>
          <p:cNvPr id="28" name="text"/>
          <p:cNvSpPr txBox="1"/>
          <p:nvPr/>
        </p:nvSpPr>
        <p:spPr>
          <a:xfrm>
            <a:off x="475488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8A3D"/>
                </a:solidFill>
              </a:rPr>
              <a:t>Побиться</a:t>
            </a:r>
            <a:endParaRPr lang="en-US" sz="1500" dirty="0"/>
          </a:p>
        </p:txBody>
      </p:sp>
      <p:sp>
        <p:nvSpPr>
          <p:cNvPr id="29" name="text"/>
          <p:cNvSpPr txBox="1"/>
          <p:nvPr/>
        </p:nvSpPr>
        <p:spPr>
          <a:xfrm>
            <a:off x="4069080" y="4069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Помехи в кабеле. Контрольная сумма не сошлась — в мусор.</a:t>
            </a:r>
            <a:endParaRPr lang="en-US" sz="1150" dirty="0"/>
          </a:p>
        </p:txBody>
      </p:sp>
      <p:sp>
        <p:nvSpPr>
          <p:cNvPr id="30" name="card"/>
          <p:cNvSpPr/>
          <p:nvPr/>
        </p:nvSpPr>
        <p:spPr>
          <a:xfrm>
            <a:off x="548640" y="5257800"/>
            <a:ext cx="6492240" cy="1005840"/>
          </a:xfrm>
          <a:prstGeom prst="roundRect">
            <a:avLst>
              <a:gd name="adj" fmla="val 10909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777240" y="52578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Итог: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IP работает по принципу best effort — «ну я отправил». Для видео это ок. Для файла, где каждый байт важен, — нет. Нужен уровень, который чинит эти четыре беды.</a:t>
            </a:r>
            <a:endParaRPr lang="en-US" sz="1250" dirty="0"/>
          </a:p>
        </p:txBody>
      </p:sp>
      <p:sp>
        <p:nvSpPr>
          <p:cNvPr id="32" name="meme panik frame"/>
          <p:cNvSpPr/>
          <p:nvPr/>
        </p:nvSpPr>
        <p:spPr>
          <a:xfrm>
            <a:off x="7779524" y="1298448"/>
            <a:ext cx="3734792" cy="5084064"/>
          </a:xfrm>
          <a:prstGeom prst="roundRect">
            <a:avLst>
              <a:gd name="adj" fmla="val 2448"/>
            </a:avLst>
          </a:prstGeom>
          <a:solidFill>
            <a:srgbClr val="1E2A44"/>
          </a:solidFill>
          <a:ln/>
        </p:spPr>
      </p:sp>
      <p:pic>
        <p:nvPicPr>
          <p:cNvPr id="33" name="meme panik" descr="/tmp/claude-0/-home-user-isp/fa3229ae-4615-5662-80eb-d4b94fff89c7/scratchpad/memes_out/pani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676" y="1371600"/>
            <a:ext cx="3588488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TCP: надёжность поверх ненадёжного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c Клиент"/>
          <p:cNvSpPr/>
          <p:nvPr/>
        </p:nvSpPr>
        <p:spPr>
          <a:xfrm>
            <a:off x="777240" y="141732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5" name="pc icon"/>
          <p:cNvSpPr txBox="1"/>
          <p:nvPr/>
        </p:nvSpPr>
        <p:spPr>
          <a:xfrm>
            <a:off x="777240" y="14356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6" name="text"/>
          <p:cNvSpPr txBox="1"/>
          <p:nvPr/>
        </p:nvSpPr>
        <p:spPr>
          <a:xfrm>
            <a:off x="502920" y="2020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Клиент</a:t>
            </a:r>
            <a:endParaRPr lang="en-US" sz="1100" dirty="0"/>
          </a:p>
        </p:txBody>
      </p:sp>
      <p:sp>
        <p:nvSpPr>
          <p:cNvPr id="17" name="pc Сервер"/>
          <p:cNvSpPr/>
          <p:nvPr/>
        </p:nvSpPr>
        <p:spPr>
          <a:xfrm>
            <a:off x="4617720" y="141732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8" name="pc icon"/>
          <p:cNvSpPr txBox="1"/>
          <p:nvPr/>
        </p:nvSpPr>
        <p:spPr>
          <a:xfrm>
            <a:off x="4617720" y="14356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9" name="text"/>
          <p:cNvSpPr txBox="1"/>
          <p:nvPr/>
        </p:nvSpPr>
        <p:spPr>
          <a:xfrm>
            <a:off x="4343400" y="2020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Сервер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1280160" y="2331720"/>
            <a:ext cx="0" cy="3794760"/>
          </a:xfrm>
          <a:prstGeom prst="line">
            <a:avLst/>
          </a:prstGeom>
          <a:noFill/>
          <a:ln w="19050">
            <a:solidFill>
              <a:srgbClr val="2A3A55"/>
            </a:solidFill>
            <a:prstDash val="solid"/>
          </a:ln>
        </p:spPr>
      </p:sp>
      <p:sp>
        <p:nvSpPr>
          <p:cNvPr id="21" name="arrow"/>
          <p:cNvSpPr/>
          <p:nvPr/>
        </p:nvSpPr>
        <p:spPr>
          <a:xfrm>
            <a:off x="5120640" y="2331720"/>
            <a:ext cx="0" cy="3794760"/>
          </a:xfrm>
          <a:prstGeom prst="line">
            <a:avLst/>
          </a:prstGeom>
          <a:noFill/>
          <a:ln w="19050">
            <a:solidFill>
              <a:srgbClr val="2A3A55"/>
            </a:solidFill>
            <a:prstDash val="solid"/>
          </a:ln>
        </p:spPr>
      </p:sp>
      <p:sp>
        <p:nvSpPr>
          <p:cNvPr id="22" name="arrow"/>
          <p:cNvSpPr/>
          <p:nvPr/>
        </p:nvSpPr>
        <p:spPr>
          <a:xfrm>
            <a:off x="1280160" y="2651760"/>
            <a:ext cx="3840480" cy="0"/>
          </a:xfrm>
          <a:prstGeom prst="line">
            <a:avLst/>
          </a:prstGeom>
          <a:noFill/>
          <a:ln w="2540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3" name="text"/>
          <p:cNvSpPr txBox="1"/>
          <p:nvPr/>
        </p:nvSpPr>
        <p:spPr>
          <a:xfrm>
            <a:off x="137160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 — «давай общаться? мой счётчик 100»</a:t>
            </a:r>
            <a:endParaRPr lang="en-US" sz="1000" dirty="0"/>
          </a:p>
        </p:txBody>
      </p:sp>
      <p:sp>
        <p:nvSpPr>
          <p:cNvPr id="24" name="arrow"/>
          <p:cNvSpPr/>
          <p:nvPr/>
        </p:nvSpPr>
        <p:spPr>
          <a:xfrm flipH="1">
            <a:off x="1280160" y="3200400"/>
            <a:ext cx="384048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5" name="text"/>
          <p:cNvSpPr txBox="1"/>
          <p:nvPr/>
        </p:nvSpPr>
        <p:spPr>
          <a:xfrm>
            <a:off x="137160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 — «давай! твой 100 получил, мой 300»</a:t>
            </a:r>
            <a:endParaRPr lang="en-US" sz="1000" dirty="0"/>
          </a:p>
        </p:txBody>
      </p:sp>
      <p:sp>
        <p:nvSpPr>
          <p:cNvPr id="26" name="arrow"/>
          <p:cNvSpPr/>
          <p:nvPr/>
        </p:nvSpPr>
        <p:spPr>
          <a:xfrm>
            <a:off x="1280160" y="3749040"/>
            <a:ext cx="3840480" cy="0"/>
          </a:xfrm>
          <a:prstGeom prst="line">
            <a:avLst/>
          </a:prstGeom>
          <a:noFill/>
          <a:ln w="2540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7" name="text"/>
          <p:cNvSpPr txBox="1"/>
          <p:nvPr/>
        </p:nvSpPr>
        <p:spPr>
          <a:xfrm>
            <a:off x="1371600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— «принял 300». Соединение открыто</a:t>
            </a:r>
            <a:endParaRPr lang="en-US" sz="1000" dirty="0"/>
          </a:p>
        </p:txBody>
      </p:sp>
      <p:sp>
        <p:nvSpPr>
          <p:cNvPr id="28" name="arrow"/>
          <p:cNvSpPr/>
          <p:nvPr/>
        </p:nvSpPr>
        <p:spPr>
          <a:xfrm>
            <a:off x="1280160" y="4480560"/>
            <a:ext cx="3840480" cy="0"/>
          </a:xfrm>
          <a:prstGeom prst="line">
            <a:avLst/>
          </a:prstGeom>
          <a:noFill/>
          <a:ln w="25400">
            <a:solidFill>
              <a:srgbClr val="5AA9FF"/>
            </a:solidFill>
            <a:prstDash val="solid"/>
            <a:tailEnd type="triangle"/>
          </a:ln>
        </p:spPr>
      </p:sp>
      <p:sp>
        <p:nvSpPr>
          <p:cNvPr id="29" name="text"/>
          <p:cNvSpPr txBox="1"/>
          <p:nvPr/>
        </p:nvSpPr>
        <p:spPr>
          <a:xfrm>
            <a:off x="1371600" y="4178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#101–#1100</a:t>
            </a:r>
            <a:endParaRPr lang="en-US" sz="1000" dirty="0"/>
          </a:p>
        </p:txBody>
      </p:sp>
      <p:sp>
        <p:nvSpPr>
          <p:cNvPr id="30" name="arrow"/>
          <p:cNvSpPr/>
          <p:nvPr/>
        </p:nvSpPr>
        <p:spPr>
          <a:xfrm flipH="1">
            <a:off x="1280160" y="4937760"/>
            <a:ext cx="384048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31" name="text"/>
          <p:cNvSpPr txBox="1"/>
          <p:nvPr/>
        </p:nvSpPr>
        <p:spPr>
          <a:xfrm>
            <a:off x="1371600" y="4636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1101 — «жду следующий»</a:t>
            </a:r>
            <a:endParaRPr lang="en-US" sz="1000" dirty="0"/>
          </a:p>
        </p:txBody>
      </p:sp>
      <p:sp>
        <p:nvSpPr>
          <p:cNvPr id="32" name="arrow"/>
          <p:cNvSpPr/>
          <p:nvPr/>
        </p:nvSpPr>
        <p:spPr>
          <a:xfrm>
            <a:off x="1280160" y="5394960"/>
            <a:ext cx="38404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33" name="text"/>
          <p:cNvSpPr txBox="1"/>
          <p:nvPr/>
        </p:nvSpPr>
        <p:spPr>
          <a:xfrm>
            <a:off x="1371600" y="5093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данные #1101–#2100 … потерялись</a:t>
            </a:r>
            <a:endParaRPr lang="en-US" sz="1000" dirty="0"/>
          </a:p>
        </p:txBody>
      </p:sp>
      <p:sp>
        <p:nvSpPr>
          <p:cNvPr id="34" name="arrow"/>
          <p:cNvSpPr/>
          <p:nvPr/>
        </p:nvSpPr>
        <p:spPr>
          <a:xfrm>
            <a:off x="1280160" y="5897880"/>
            <a:ext cx="3840480" cy="0"/>
          </a:xfrm>
          <a:prstGeom prst="line">
            <a:avLst/>
          </a:prstGeom>
          <a:noFill/>
          <a:ln w="2540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35" name="text"/>
          <p:cNvSpPr txBox="1"/>
          <p:nvPr/>
        </p:nvSpPr>
        <p:spPr>
          <a:xfrm>
            <a:off x="1371600" y="5596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нет ACK → перепосылка #1101–#2100</a:t>
            </a:r>
            <a:endParaRPr lang="en-US" sz="1000" dirty="0"/>
          </a:p>
        </p:txBody>
      </p:sp>
      <p:sp>
        <p:nvSpPr>
          <p:cNvPr id="36" name="bullets"/>
          <p:cNvSpPr txBox="1"/>
          <p:nvPr/>
        </p:nvSpPr>
        <p:spPr>
          <a:xfrm>
            <a:off x="5943600" y="14173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Нумерует каждый байт.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Поэтому дубликаты видно, а порядок восстанавливается.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Получатель подтверждает (ACK).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Нет подтверждения за разумное время — отправитель шлёт заново. Сам, без участия программы.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Не заваливает получателя.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«Окно»: сколько можно отправить без подтверждения. Медленный телефон — окно меньше.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</a:rPr>
              <a:t>Сначала рукопожатие.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Три сообщения — и оба знают счётчики друг друга. Только потом данные. Любое «открыть сайт» начинается с этого.</a:t>
            </a:r>
            <a:endParaRPr lang="en-US" sz="1250" dirty="0"/>
          </a:p>
        </p:txBody>
      </p:sp>
      <p:sp>
        <p:nvSpPr>
          <p:cNvPr id="37" name="meme handshake frame"/>
          <p:cNvSpPr/>
          <p:nvPr/>
        </p:nvSpPr>
        <p:spPr>
          <a:xfrm>
            <a:off x="7219720" y="4087368"/>
            <a:ext cx="3208481" cy="2340864"/>
          </a:xfrm>
          <a:prstGeom prst="roundRect">
            <a:avLst>
              <a:gd name="adj" fmla="val 3906"/>
            </a:avLst>
          </a:prstGeom>
          <a:solidFill>
            <a:srgbClr val="1E2A44"/>
          </a:solidFill>
          <a:ln/>
        </p:spPr>
      </p:sp>
      <p:pic>
        <p:nvPicPr>
          <p:cNvPr id="38" name="meme handshake" descr="/tmp/claude-0/-home-user-isp/fa3229ae-4615-5662-80eb-d4b94fff89c7/scratchpad/memes_out/handsh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872" y="4160520"/>
            <a:ext cx="3062177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UDP: быстро и без гарантий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meme dogecheems frame"/>
          <p:cNvSpPr/>
          <p:nvPr/>
        </p:nvSpPr>
        <p:spPr>
          <a:xfrm>
            <a:off x="475488" y="1359361"/>
            <a:ext cx="6181344" cy="4779358"/>
          </a:xfrm>
          <a:prstGeom prst="roundRect">
            <a:avLst>
              <a:gd name="adj" fmla="val 1913"/>
            </a:avLst>
          </a:prstGeom>
          <a:solidFill>
            <a:srgbClr val="1E2A44"/>
          </a:solidFill>
          <a:ln/>
        </p:spPr>
      </p:sp>
      <p:pic>
        <p:nvPicPr>
          <p:cNvPr id="15" name="meme dogecheems" descr="/tmp/claude-0/-home-user-isp/fa3229ae-4615-5662-80eb-d4b94fff89c7/scratchpad/memes_out/dogechee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2513"/>
            <a:ext cx="6035040" cy="4633054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6949440" y="1417320"/>
            <a:ext cx="4754880" cy="2331720"/>
          </a:xfrm>
          <a:prstGeom prst="roundRect">
            <a:avLst>
              <a:gd name="adj" fmla="val 4706"/>
            </a:avLst>
          </a:prstGeom>
          <a:solidFill>
            <a:srgbClr val="162238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71780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Где UDP лучше TCP</a:t>
            </a:r>
            <a:endParaRPr lang="en-US" sz="1500" dirty="0"/>
          </a:p>
        </p:txBody>
      </p:sp>
      <p:sp>
        <p:nvSpPr>
          <p:cNvPr id="18" name="text"/>
          <p:cNvSpPr txBox="1"/>
          <p:nvPr/>
        </p:nvSpPr>
        <p:spPr>
          <a:xfrm>
            <a:off x="7178040" y="1920240"/>
            <a:ext cx="4297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Звонки, Discord, игры, стримы, DNS. Если кадр видео потерялся — он уже никому не нужен, следующий всё равно едет. Ждать перепосылку = заикание. UDP просто кидает и не оглядывается: 8 байт заголовка вместо 20+.</a:t>
            </a:r>
            <a:endParaRPr lang="en-US" sz="1250" dirty="0"/>
          </a:p>
        </p:txBody>
      </p:sp>
      <p:sp>
        <p:nvSpPr>
          <p:cNvPr id="19" name="card"/>
          <p:cNvSpPr/>
          <p:nvPr/>
        </p:nvSpPr>
        <p:spPr>
          <a:xfrm>
            <a:off x="6949440" y="393192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1A2238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7086600" y="3886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“</a:t>
            </a:r>
            <a:endParaRPr lang="en-US" sz="5400" dirty="0"/>
          </a:p>
        </p:txBody>
      </p:sp>
      <p:sp>
        <p:nvSpPr>
          <p:cNvPr id="21" name="text"/>
          <p:cNvSpPr txBox="1"/>
          <p:nvPr/>
        </p:nvSpPr>
        <p:spPr>
          <a:xfrm>
            <a:off x="7452360" y="4133088"/>
            <a:ext cx="4069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chemeClr val="tx1"/>
                </a:solidFill>
              </a:rPr>
              <a:t>— Хочешь шутку про TCP?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chemeClr val="tx1"/>
                </a:solidFill>
              </a:rPr>
              <a:t>— Да, хочу шутку про TCP.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chemeClr val="tx1"/>
                </a:solidFill>
              </a:rPr>
              <a:t>— Ок, рассказываю шутку про TCP.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chemeClr val="tx1"/>
                </a:solidFill>
              </a:rPr>
              <a:t>Я бы рассказал шутку про UDP, но не факт, что она до тебя дойдёт.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NAT: один белый IP на всю квартиру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c Ноут"/>
          <p:cNvSpPr/>
          <p:nvPr/>
        </p:nvSpPr>
        <p:spPr>
          <a:xfrm>
            <a:off x="731520" y="155448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5" name="pc icon"/>
          <p:cNvSpPr txBox="1"/>
          <p:nvPr/>
        </p:nvSpPr>
        <p:spPr>
          <a:xfrm>
            <a:off x="731520" y="157276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6" name="text"/>
          <p:cNvSpPr txBox="1"/>
          <p:nvPr/>
        </p:nvSpPr>
        <p:spPr>
          <a:xfrm>
            <a:off x="457200" y="21579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Ноут</a:t>
            </a:r>
            <a:endParaRPr lang="en-US" sz="1100" dirty="0"/>
          </a:p>
        </p:txBody>
      </p:sp>
      <p:sp>
        <p:nvSpPr>
          <p:cNvPr id="17" name="text"/>
          <p:cNvSpPr txBox="1"/>
          <p:nvPr/>
        </p:nvSpPr>
        <p:spPr>
          <a:xfrm>
            <a:off x="274320" y="2386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192.168.1.15</a:t>
            </a:r>
            <a:endParaRPr lang="en-US" sz="900" dirty="0"/>
          </a:p>
        </p:txBody>
      </p:sp>
      <p:sp>
        <p:nvSpPr>
          <p:cNvPr id="18" name="pc Телефон"/>
          <p:cNvSpPr/>
          <p:nvPr/>
        </p:nvSpPr>
        <p:spPr>
          <a:xfrm>
            <a:off x="731520" y="283464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9" name="pc icon"/>
          <p:cNvSpPr txBox="1"/>
          <p:nvPr/>
        </p:nvSpPr>
        <p:spPr>
          <a:xfrm>
            <a:off x="731520" y="285292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"/>
          <p:cNvSpPr txBox="1"/>
          <p:nvPr/>
        </p:nvSpPr>
        <p:spPr>
          <a:xfrm>
            <a:off x="457200" y="3438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Телефон</a:t>
            </a:r>
            <a:endParaRPr lang="en-US" sz="1100" dirty="0"/>
          </a:p>
        </p:txBody>
      </p:sp>
      <p:sp>
        <p:nvSpPr>
          <p:cNvPr id="21" name="text"/>
          <p:cNvSpPr txBox="1"/>
          <p:nvPr/>
        </p:nvSpPr>
        <p:spPr>
          <a:xfrm>
            <a:off x="274320" y="36667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192.168.1.22</a:t>
            </a:r>
            <a:endParaRPr lang="en-US" sz="900" dirty="0"/>
          </a:p>
        </p:txBody>
      </p:sp>
      <p:sp>
        <p:nvSpPr>
          <p:cNvPr id="22" name="pc Телевизор"/>
          <p:cNvSpPr/>
          <p:nvPr/>
        </p:nvSpPr>
        <p:spPr>
          <a:xfrm>
            <a:off x="731520" y="411480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23" name="pc icon"/>
          <p:cNvSpPr txBox="1"/>
          <p:nvPr/>
        </p:nvSpPr>
        <p:spPr>
          <a:xfrm>
            <a:off x="731520" y="41330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24" name="text"/>
          <p:cNvSpPr txBox="1"/>
          <p:nvPr/>
        </p:nvSpPr>
        <p:spPr>
          <a:xfrm>
            <a:off x="457200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Телевизор</a:t>
            </a:r>
            <a:endParaRPr lang="en-US" sz="1100" dirty="0"/>
          </a:p>
        </p:txBody>
      </p:sp>
      <p:sp>
        <p:nvSpPr>
          <p:cNvPr id="25" name="text"/>
          <p:cNvSpPr txBox="1"/>
          <p:nvPr/>
        </p:nvSpPr>
        <p:spPr>
          <a:xfrm>
            <a:off x="274320" y="4946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192.168.1.40</a:t>
            </a:r>
            <a:endParaRPr lang="en-US" sz="900" dirty="0"/>
          </a:p>
        </p:txBody>
      </p:sp>
      <p:sp>
        <p:nvSpPr>
          <p:cNvPr id="26" name="router Роутер (NAT)"/>
          <p:cNvSpPr/>
          <p:nvPr/>
        </p:nvSpPr>
        <p:spPr>
          <a:xfrm>
            <a:off x="3291840" y="2880360"/>
            <a:ext cx="822960" cy="822960"/>
          </a:xfrm>
          <a:prstGeom prst="ellipse">
            <a:avLst/>
          </a:prstGeom>
          <a:solidFill>
            <a:srgbClr val="1E2A44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7" name="arrow"/>
          <p:cNvSpPr/>
          <p:nvPr/>
        </p:nvSpPr>
        <p:spPr>
          <a:xfrm>
            <a:off x="3456432" y="3156052"/>
            <a:ext cx="493776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 flipH="1">
            <a:off x="3456432" y="3427628"/>
            <a:ext cx="493776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9" name="text"/>
          <p:cNvSpPr txBox="1"/>
          <p:nvPr/>
        </p:nvSpPr>
        <p:spPr>
          <a:xfrm>
            <a:off x="2926080" y="3739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Роутер (NAT)</a:t>
            </a:r>
            <a:endParaRPr lang="en-US" sz="1100" dirty="0"/>
          </a:p>
        </p:txBody>
      </p:sp>
      <p:sp>
        <p:nvSpPr>
          <p:cNvPr id="30" name="text"/>
          <p:cNvSpPr txBox="1"/>
          <p:nvPr/>
        </p:nvSpPr>
        <p:spPr>
          <a:xfrm>
            <a:off x="2743200" y="39684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203.0.113.7 снаружи</a:t>
            </a:r>
            <a:endParaRPr lang="en-US" sz="900" dirty="0"/>
          </a:p>
        </p:txBody>
      </p:sp>
      <p:sp>
        <p:nvSpPr>
          <p:cNvPr id="31" name="arrow"/>
          <p:cNvSpPr/>
          <p:nvPr/>
        </p:nvSpPr>
        <p:spPr>
          <a:xfrm>
            <a:off x="1737360" y="1837944"/>
            <a:ext cx="1554480" cy="1453896"/>
          </a:xfrm>
          <a:prstGeom prst="line">
            <a:avLst/>
          </a:prstGeom>
          <a:noFill/>
          <a:ln w="19050">
            <a:solidFill>
              <a:srgbClr val="5AA9FF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1737360" y="3118104"/>
            <a:ext cx="1554480" cy="173736"/>
          </a:xfrm>
          <a:prstGeom prst="line">
            <a:avLst/>
          </a:prstGeom>
          <a:noFill/>
          <a:ln w="19050">
            <a:solidFill>
              <a:srgbClr val="5AA9FF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 flipV="1">
            <a:off x="1737360" y="3291840"/>
            <a:ext cx="1554480" cy="1106424"/>
          </a:xfrm>
          <a:prstGeom prst="line">
            <a:avLst/>
          </a:prstGeom>
          <a:noFill/>
          <a:ln w="19050">
            <a:solidFill>
              <a:srgbClr val="5AA9FF"/>
            </a:solidFill>
            <a:prstDash val="solid"/>
            <a:tailEnd type="triangle"/>
          </a:ln>
        </p:spPr>
      </p:sp>
      <p:sp>
        <p:nvSpPr>
          <p:cNvPr id="34" name="cloud"/>
          <p:cNvSpPr/>
          <p:nvPr/>
        </p:nvSpPr>
        <p:spPr>
          <a:xfrm>
            <a:off x="5029200" y="2651760"/>
            <a:ext cx="1737360" cy="1280160"/>
          </a:xfrm>
          <a:prstGeom prst="cloud">
            <a:avLst/>
          </a:prstGeom>
          <a:solidFill>
            <a:srgbClr val="1E2A44"/>
          </a:solidFill>
          <a:ln w="15875">
            <a:solidFill>
              <a:srgbClr val="B388FF"/>
            </a:solidFill>
            <a:prstDash val="solid"/>
          </a:ln>
        </p:spPr>
      </p:sp>
      <p:sp>
        <p:nvSpPr>
          <p:cNvPr id="35" name="text"/>
          <p:cNvSpPr txBox="1"/>
          <p:nvPr/>
        </p:nvSpPr>
        <p:spPr>
          <a:xfrm>
            <a:off x="5029200" y="26517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Интернет</a:t>
            </a:r>
            <a:endParaRPr lang="en-US" sz="1100" dirty="0"/>
          </a:p>
        </p:txBody>
      </p:sp>
      <p:sp>
        <p:nvSpPr>
          <p:cNvPr id="36" name="arrow"/>
          <p:cNvSpPr/>
          <p:nvPr/>
        </p:nvSpPr>
        <p:spPr>
          <a:xfrm>
            <a:off x="4114800" y="3291840"/>
            <a:ext cx="91440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  <a:tailEnd type="triangle"/>
          </a:ln>
        </p:spPr>
      </p:sp>
      <p:graphicFrame>
        <p:nvGraphicFramePr>
          <p:cNvPr id="41" name="na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62179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E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внутри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E6A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снаружи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192.168.1.15:51000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203.0.113.7:40001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192.168.1.22:43210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203.0.113.7:40002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192.168.1.40:60123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203.0.113.7:40003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38" name="text"/>
          <p:cNvSpPr txBox="1"/>
          <p:nvPr/>
        </p:nvSpPr>
        <p:spPr>
          <a:xfrm>
            <a:off x="548640" y="62636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таблица трансляций роутера: кому вернуть ответ</a:t>
            </a:r>
            <a:endParaRPr lang="en-US" sz="1000" dirty="0"/>
          </a:p>
        </p:txBody>
      </p:sp>
      <p:sp>
        <p:nvSpPr>
          <p:cNvPr id="39" name="bullets"/>
          <p:cNvSpPr txBox="1"/>
          <p:nvPr/>
        </p:nvSpPr>
        <p:spPr>
          <a:xfrm>
            <a:off x="7132320" y="14173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Белых адресов IPv4 — 4 миллиарда.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Людей и устройств больше. На всех не хватило ещё в 2011 году.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Роутер подменяет адрес и порт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отправителя на свои и запоминает в таблице. Ответ приходит на его белый адрес — он смотрит в таблицу и отдаёт нужному ноуту.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Снаружи в твой комп просто так не зайти.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Поэтому для сервера Minecraft дома нужен «проброс порта», а IPv6 придумали в том числе чтобы NAT был не нужен.</a:t>
            </a:r>
            <a:endParaRPr lang="en-US" sz="1200" dirty="0"/>
          </a:p>
        </p:txBody>
      </p:sp>
      <p:sp>
        <p:nvSpPr>
          <p:cNvPr id="40" name="meme harold frame"/>
          <p:cNvSpPr/>
          <p:nvPr/>
        </p:nvSpPr>
        <p:spPr>
          <a:xfrm>
            <a:off x="8797989" y="3950208"/>
            <a:ext cx="1972183" cy="2432304"/>
          </a:xfrm>
          <a:prstGeom prst="roundRect">
            <a:avLst>
              <a:gd name="adj" fmla="val 4636"/>
            </a:avLst>
          </a:prstGeom>
          <a:solidFill>
            <a:srgbClr val="1E2A44"/>
          </a:solidFill>
          <a:ln/>
        </p:spPr>
      </p:sp>
      <p:pic>
        <p:nvPicPr>
          <p:cNvPr id="41" name="meme harold" descr="/tmp/claude-0/-home-user-isp/fa3229ae-4615-5662-80eb-d4b94fff89c7/scratchpad/memes_out/haro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1141" y="4023360"/>
            <a:ext cx="1825879" cy="228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L7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2004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Приложения: то, что ты видишь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DNS, HTTP, TLS — и путь одного клика через все уровни.</a:t>
            </a:r>
            <a:endParaRPr lang="en-US" sz="1800" dirty="0"/>
          </a:p>
        </p:txBody>
      </p:sp>
      <p:sp>
        <p:nvSpPr>
          <p:cNvPr id="5" name="section photo frame"/>
          <p:cNvSpPr/>
          <p:nvPr/>
        </p:nvSpPr>
        <p:spPr>
          <a:xfrm>
            <a:off x="6785420" y="795528"/>
            <a:ext cx="5082921" cy="5266944"/>
          </a:xfrm>
          <a:prstGeom prst="roundRect">
            <a:avLst>
              <a:gd name="adj" fmla="val 1799"/>
            </a:avLst>
          </a:prstGeom>
          <a:solidFill>
            <a:srgbClr val="0B1220"/>
          </a:solidFill>
          <a:ln/>
        </p:spPr>
      </p:sp>
      <p:pic>
        <p:nvPicPr>
          <p:cNvPr id="6" name="section photo" descr="/tmp/claude-0/-home-user-isp/fa3229ae-4615-5662-80eb-d4b94fff89c7/scratchpad/photos_crop/sec_l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572" y="868680"/>
            <a:ext cx="493661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DNS: имена вместо чисел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pc Браузер"/>
          <p:cNvSpPr/>
          <p:nvPr/>
        </p:nvSpPr>
        <p:spPr>
          <a:xfrm>
            <a:off x="731520" y="182880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5" name="pc icon"/>
          <p:cNvSpPr txBox="1"/>
          <p:nvPr/>
        </p:nvSpPr>
        <p:spPr>
          <a:xfrm>
            <a:off x="731520" y="18470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6" name="text"/>
          <p:cNvSpPr txBox="1"/>
          <p:nvPr/>
        </p:nvSpPr>
        <p:spPr>
          <a:xfrm>
            <a:off x="457200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Браузер</a:t>
            </a:r>
            <a:endParaRPr lang="en-US" sz="1100" dirty="0"/>
          </a:p>
        </p:txBody>
      </p:sp>
      <p:sp>
        <p:nvSpPr>
          <p:cNvPr id="17" name="pc DNS-сервер"/>
          <p:cNvSpPr/>
          <p:nvPr/>
        </p:nvSpPr>
        <p:spPr>
          <a:xfrm>
            <a:off x="5029200" y="1828800"/>
            <a:ext cx="1005840" cy="566928"/>
          </a:xfrm>
          <a:prstGeom prst="roundRect">
            <a:avLst>
              <a:gd name="adj" fmla="val 12903"/>
            </a:avLst>
          </a:prstGeom>
          <a:solidFill>
            <a:srgbClr val="1E2A44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8" name="pc icon"/>
          <p:cNvSpPr txBox="1"/>
          <p:nvPr/>
        </p:nvSpPr>
        <p:spPr>
          <a:xfrm>
            <a:off x="5029200" y="18470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9" name="text"/>
          <p:cNvSpPr txBox="1"/>
          <p:nvPr/>
        </p:nvSpPr>
        <p:spPr>
          <a:xfrm>
            <a:off x="4754880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DNS-сервер</a:t>
            </a:r>
            <a:endParaRPr lang="en-US" sz="1100" dirty="0"/>
          </a:p>
        </p:txBody>
      </p:sp>
      <p:sp>
        <p:nvSpPr>
          <p:cNvPr id="20" name="text"/>
          <p:cNvSpPr txBox="1"/>
          <p:nvPr/>
        </p:nvSpPr>
        <p:spPr>
          <a:xfrm>
            <a:off x="4572000" y="2660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900" dirty="0"/>
          </a:p>
        </p:txBody>
      </p:sp>
      <p:sp>
        <p:nvSpPr>
          <p:cNvPr id="21" name="arrow"/>
          <p:cNvSpPr/>
          <p:nvPr/>
        </p:nvSpPr>
        <p:spPr>
          <a:xfrm>
            <a:off x="1737360" y="2011680"/>
            <a:ext cx="329184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 flipH="1">
            <a:off x="1737360" y="2377440"/>
            <a:ext cx="3291840" cy="0"/>
          </a:xfrm>
          <a:prstGeom prst="line">
            <a:avLst/>
          </a:prstGeom>
          <a:noFill/>
          <a:ln w="25400">
            <a:solidFill>
              <a:srgbClr val="2EE6A6"/>
            </a:solidFill>
            <a:prstDash val="solid"/>
            <a:tailEnd type="triangle"/>
          </a:ln>
        </p:spPr>
      </p:sp>
      <p:sp>
        <p:nvSpPr>
          <p:cNvPr id="23" name="text"/>
          <p:cNvSpPr txBox="1"/>
          <p:nvPr/>
        </p:nvSpPr>
        <p:spPr>
          <a:xfrm>
            <a:off x="17373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«youtube.com — это кто?» (UDP/53)</a:t>
            </a:r>
            <a:endParaRPr lang="en-US" sz="1100" dirty="0"/>
          </a:p>
        </p:txBody>
      </p:sp>
      <p:sp>
        <p:nvSpPr>
          <p:cNvPr id="24" name="text"/>
          <p:cNvSpPr txBox="1"/>
          <p:nvPr/>
        </p:nvSpPr>
        <p:spPr>
          <a:xfrm>
            <a:off x="17373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«142.250.74.46»</a:t>
            </a:r>
            <a:endParaRPr lang="en-US" sz="1100" dirty="0"/>
          </a:p>
        </p:txBody>
      </p:sp>
      <p:sp>
        <p:nvSpPr>
          <p:cNvPr id="25" name="bullets"/>
          <p:cNvSpPr txBox="1"/>
          <p:nvPr/>
        </p:nvSpPr>
        <p:spPr>
          <a:xfrm>
            <a:off x="548640" y="329184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Люди помнят имена, роутеры — числа.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DNS — телефонная книга интернета: имя → IP. Без него интернет работает, но ты не знаешь ни одного номера.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Один запрос — один ответ.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Поэтому UDP, порт 53. Не нужно рукопожатие ради 50 байт. Ответ кэшируется на компе и на роутере.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Иерархия, как у IP: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корневые серверы знают, кто отвечает за .com; те знают, кто за youtube.com. Никто не хранит всё.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3"/>
                </a:solidFill>
              </a:rPr>
              <a:t>Симптом: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ping 8.8.8.8 идёт, а сайты «не открываются». Сеть работает — сломался DNS. Самая частая «поломка интернета».</a:t>
            </a:r>
            <a:endParaRPr lang="en-US" sz="1300" dirty="0"/>
          </a:p>
        </p:txBody>
      </p:sp>
      <p:sp>
        <p:nvSpPr>
          <p:cNvPr id="26" name="meme bernie frame"/>
          <p:cNvSpPr/>
          <p:nvPr/>
        </p:nvSpPr>
        <p:spPr>
          <a:xfrm>
            <a:off x="7882128" y="1344168"/>
            <a:ext cx="3529584" cy="3529584"/>
          </a:xfrm>
          <a:prstGeom prst="roundRect">
            <a:avLst>
              <a:gd name="adj" fmla="val 2591"/>
            </a:avLst>
          </a:prstGeom>
          <a:solidFill>
            <a:srgbClr val="1E2A44"/>
          </a:solidFill>
          <a:ln/>
        </p:spPr>
      </p:sp>
      <p:pic>
        <p:nvPicPr>
          <p:cNvPr id="27" name="meme bernie" descr="/tmp/claude-0/-home-user-isp/fa3229ae-4615-5662-80eb-d4b94fff89c7/scratchpad/memes_out/bern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417320"/>
            <a:ext cx="3383280" cy="3383280"/>
          </a:xfrm>
          <a:prstGeom prst="rect">
            <a:avLst/>
          </a:prstGeom>
        </p:spPr>
      </p:pic>
      <p:sp>
        <p:nvSpPr>
          <p:cNvPr id="28" name="code box"/>
          <p:cNvSpPr/>
          <p:nvPr/>
        </p:nvSpPr>
        <p:spPr>
          <a:xfrm>
            <a:off x="7589520" y="50292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9" name="code"/>
          <p:cNvSpPr txBox="1"/>
          <p:nvPr/>
        </p:nvSpPr>
        <p:spPr>
          <a:xfrm>
            <a:off x="7754112" y="5138928"/>
            <a:ext cx="3785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youtube.com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Windows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youtube.com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Linux/mac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происходит, когда ты открываешь сайт</a:t>
            </a:r>
            <a:endParaRPr lang="en-US" sz="3000" dirty="0"/>
          </a:p>
        </p:txBody>
      </p:sp>
      <p:sp>
        <p:nvSpPr>
          <p:cNvPr id="3" name="chip L1"/>
          <p:cNvSpPr/>
          <p:nvPr/>
        </p:nvSpPr>
        <p:spPr>
          <a:xfrm>
            <a:off x="9079992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4" name="chip label"/>
          <p:cNvSpPr txBox="1"/>
          <p:nvPr/>
        </p:nvSpPr>
        <p:spPr>
          <a:xfrm>
            <a:off x="9079992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L1</a:t>
            </a:r>
            <a:endParaRPr lang="en-US" sz="1000" dirty="0"/>
          </a:p>
        </p:txBody>
      </p:sp>
      <p:sp>
        <p:nvSpPr>
          <p:cNvPr id="5" name="chip L2"/>
          <p:cNvSpPr/>
          <p:nvPr/>
        </p:nvSpPr>
        <p:spPr>
          <a:xfrm>
            <a:off x="9610344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6" name="chip label"/>
          <p:cNvSpPr txBox="1"/>
          <p:nvPr/>
        </p:nvSpPr>
        <p:spPr>
          <a:xfrm>
            <a:off x="9610344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L2</a:t>
            </a:r>
            <a:endParaRPr lang="en-US" sz="1000" dirty="0"/>
          </a:p>
        </p:txBody>
      </p:sp>
      <p:sp>
        <p:nvSpPr>
          <p:cNvPr id="7" name="chip L3"/>
          <p:cNvSpPr/>
          <p:nvPr/>
        </p:nvSpPr>
        <p:spPr>
          <a:xfrm>
            <a:off x="10140696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8" name="chip label"/>
          <p:cNvSpPr txBox="1"/>
          <p:nvPr/>
        </p:nvSpPr>
        <p:spPr>
          <a:xfrm>
            <a:off x="10140696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L3</a:t>
            </a:r>
            <a:endParaRPr lang="en-US" sz="1000" dirty="0"/>
          </a:p>
        </p:txBody>
      </p:sp>
      <p:sp>
        <p:nvSpPr>
          <p:cNvPr id="9" name="chip L4"/>
          <p:cNvSpPr/>
          <p:nvPr/>
        </p:nvSpPr>
        <p:spPr>
          <a:xfrm>
            <a:off x="10671048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62238"/>
          </a:solidFill>
          <a:ln/>
        </p:spPr>
      </p:sp>
      <p:sp>
        <p:nvSpPr>
          <p:cNvPr id="10" name="chip label"/>
          <p:cNvSpPr txBox="1"/>
          <p:nvPr/>
        </p:nvSpPr>
        <p:spPr>
          <a:xfrm>
            <a:off x="10671048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B4C6"/>
                </a:solidFill>
              </a:rPr>
              <a:t>L4</a:t>
            </a:r>
            <a:endParaRPr lang="en-US" sz="1000" dirty="0"/>
          </a:p>
        </p:txBody>
      </p:sp>
      <p:sp>
        <p:nvSpPr>
          <p:cNvPr id="11" name="chip L7"/>
          <p:cNvSpPr/>
          <p:nvPr/>
        </p:nvSpPr>
        <p:spPr>
          <a:xfrm>
            <a:off x="11201400" y="54864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EE6A6"/>
          </a:solidFill>
          <a:ln/>
        </p:spPr>
      </p:sp>
      <p:sp>
        <p:nvSpPr>
          <p:cNvPr id="12" name="chip label"/>
          <p:cNvSpPr txBox="1"/>
          <p:nvPr/>
        </p:nvSpPr>
        <p:spPr>
          <a:xfrm>
            <a:off x="11201400" y="548640"/>
            <a:ext cx="457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L7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54864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15" name="step number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chip L7"/>
          <p:cNvSpPr/>
          <p:nvPr/>
        </p:nvSpPr>
        <p:spPr>
          <a:xfrm>
            <a:off x="2331720" y="16916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18" name="chip label"/>
          <p:cNvSpPr txBox="1"/>
          <p:nvPr/>
        </p:nvSpPr>
        <p:spPr>
          <a:xfrm>
            <a:off x="2331720" y="169164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</a:rPr>
              <a:t>L7</a:t>
            </a:r>
            <a:endParaRPr lang="en-US" sz="1000" dirty="0"/>
          </a:p>
        </p:txBody>
      </p:sp>
      <p:sp>
        <p:nvSpPr>
          <p:cNvPr id="19" name="text"/>
          <p:cNvSpPr txBox="1"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DNS</a:t>
            </a:r>
            <a:endParaRPr lang="en-US" sz="1400" dirty="0"/>
          </a:p>
        </p:txBody>
      </p:sp>
      <p:sp>
        <p:nvSpPr>
          <p:cNvPr id="20" name="text"/>
          <p:cNvSpPr txBox="1"/>
          <p:nvPr/>
        </p:nvSpPr>
        <p:spPr>
          <a:xfrm>
            <a:off x="73152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youtube.com → 142.250.74.46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3218688" y="2514600"/>
            <a:ext cx="146304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338328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23" name="step number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24" name="text"/>
          <p:cNvSpPr txBox="1"/>
          <p:nvPr/>
        </p:nvSpPr>
        <p:spPr>
          <a:xfrm>
            <a:off x="3566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chip L3"/>
          <p:cNvSpPr/>
          <p:nvPr/>
        </p:nvSpPr>
        <p:spPr>
          <a:xfrm>
            <a:off x="5166360" y="16916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26" name="chip label"/>
          <p:cNvSpPr txBox="1"/>
          <p:nvPr/>
        </p:nvSpPr>
        <p:spPr>
          <a:xfrm>
            <a:off x="5166360" y="169164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L3</a:t>
            </a:r>
            <a:endParaRPr lang="en-US" sz="1000" dirty="0"/>
          </a:p>
        </p:txBody>
      </p:sp>
      <p:sp>
        <p:nvSpPr>
          <p:cNvPr id="27" name="text"/>
          <p:cNvSpPr txBox="1"/>
          <p:nvPr/>
        </p:nvSpPr>
        <p:spPr>
          <a:xfrm>
            <a:off x="35661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Не моя подсеть</a:t>
            </a:r>
            <a:endParaRPr lang="en-US" sz="1400" dirty="0"/>
          </a:p>
        </p:txBody>
      </p:sp>
      <p:sp>
        <p:nvSpPr>
          <p:cNvPr id="28" name="text"/>
          <p:cNvSpPr txBox="1"/>
          <p:nvPr/>
        </p:nvSpPr>
        <p:spPr>
          <a:xfrm>
            <a:off x="356616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142.250… ≠ 192.168.1.x → слать шлюзу</a:t>
            </a:r>
            <a:endParaRPr lang="en-US" sz="1100" dirty="0"/>
          </a:p>
        </p:txBody>
      </p:sp>
      <p:sp>
        <p:nvSpPr>
          <p:cNvPr id="29" name="arrow"/>
          <p:cNvSpPr/>
          <p:nvPr/>
        </p:nvSpPr>
        <p:spPr>
          <a:xfrm>
            <a:off x="6053328" y="2514600"/>
            <a:ext cx="146304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30" name="card"/>
          <p:cNvSpPr/>
          <p:nvPr/>
        </p:nvSpPr>
        <p:spPr>
          <a:xfrm>
            <a:off x="621792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31" name="step number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chip L2/L3"/>
          <p:cNvSpPr/>
          <p:nvPr/>
        </p:nvSpPr>
        <p:spPr>
          <a:xfrm>
            <a:off x="8001000" y="16916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34" name="chip label"/>
          <p:cNvSpPr txBox="1"/>
          <p:nvPr/>
        </p:nvSpPr>
        <p:spPr>
          <a:xfrm>
            <a:off x="8001000" y="169164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E6A6"/>
                </a:solidFill>
              </a:rPr>
              <a:t>L2/L3</a:t>
            </a:r>
            <a:endParaRPr lang="en-US" sz="1000" dirty="0"/>
          </a:p>
        </p:txBody>
      </p:sp>
      <p:sp>
        <p:nvSpPr>
          <p:cNvPr id="35" name="text"/>
          <p:cNvSpPr txBox="1"/>
          <p:nvPr/>
        </p:nvSpPr>
        <p:spPr>
          <a:xfrm>
            <a:off x="64008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ARP</a:t>
            </a:r>
            <a:endParaRPr lang="en-US" sz="1400" dirty="0"/>
          </a:p>
        </p:txBody>
      </p:sp>
      <p:sp>
        <p:nvSpPr>
          <p:cNvPr id="36" name="text"/>
          <p:cNvSpPr txBox="1"/>
          <p:nvPr/>
        </p:nvSpPr>
        <p:spPr>
          <a:xfrm>
            <a:off x="640080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кто 192.168.1.1? → MAC роутера</a:t>
            </a:r>
            <a:endParaRPr lang="en-US" sz="1100" dirty="0"/>
          </a:p>
        </p:txBody>
      </p:sp>
      <p:sp>
        <p:nvSpPr>
          <p:cNvPr id="37" name="arrow"/>
          <p:cNvSpPr/>
          <p:nvPr/>
        </p:nvSpPr>
        <p:spPr>
          <a:xfrm>
            <a:off x="8887968" y="2514600"/>
            <a:ext cx="146304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38" name="card"/>
          <p:cNvSpPr/>
          <p:nvPr/>
        </p:nvSpPr>
        <p:spPr>
          <a:xfrm>
            <a:off x="905256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39" name="step number"/>
          <p:cNvSpPr/>
          <p:nvPr/>
        </p:nvSpPr>
        <p:spPr>
          <a:xfrm>
            <a:off x="9235440" y="1645920"/>
            <a:ext cx="502920" cy="50292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40" name="text"/>
          <p:cNvSpPr txBox="1"/>
          <p:nvPr/>
        </p:nvSpPr>
        <p:spPr>
          <a:xfrm>
            <a:off x="92354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4</a:t>
            </a:r>
            <a:endParaRPr lang="en-US" sz="1600" dirty="0"/>
          </a:p>
        </p:txBody>
      </p:sp>
      <p:sp>
        <p:nvSpPr>
          <p:cNvPr id="41" name="chip L2"/>
          <p:cNvSpPr/>
          <p:nvPr/>
        </p:nvSpPr>
        <p:spPr>
          <a:xfrm>
            <a:off x="10835640" y="16916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42" name="chip label"/>
          <p:cNvSpPr txBox="1"/>
          <p:nvPr/>
        </p:nvSpPr>
        <p:spPr>
          <a:xfrm>
            <a:off x="10835640" y="169164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E6A6"/>
                </a:solidFill>
              </a:rPr>
              <a:t>L2</a:t>
            </a:r>
            <a:endParaRPr lang="en-US" sz="1000" dirty="0"/>
          </a:p>
        </p:txBody>
      </p:sp>
      <p:sp>
        <p:nvSpPr>
          <p:cNvPr id="43" name="text"/>
          <p:cNvSpPr txBox="1"/>
          <p:nvPr/>
        </p:nvSpPr>
        <p:spPr>
          <a:xfrm>
            <a:off x="923544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Кадр → роутер</a:t>
            </a:r>
            <a:endParaRPr lang="en-US" sz="1400" dirty="0"/>
          </a:p>
        </p:txBody>
      </p:sp>
      <p:sp>
        <p:nvSpPr>
          <p:cNvPr id="44" name="text"/>
          <p:cNvSpPr txBox="1"/>
          <p:nvPr/>
        </p:nvSpPr>
        <p:spPr>
          <a:xfrm>
            <a:off x="923544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MAC ноута → MAC роутера, внутри IP-пакет</a:t>
            </a:r>
            <a:endParaRPr lang="en-US" sz="1100" dirty="0"/>
          </a:p>
        </p:txBody>
      </p:sp>
      <p:sp>
        <p:nvSpPr>
          <p:cNvPr id="45" name="card"/>
          <p:cNvSpPr/>
          <p:nvPr/>
        </p:nvSpPr>
        <p:spPr>
          <a:xfrm>
            <a:off x="54864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46" name="step number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47" name="text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5</a:t>
            </a:r>
            <a:endParaRPr lang="en-US" sz="1600" dirty="0"/>
          </a:p>
        </p:txBody>
      </p:sp>
      <p:sp>
        <p:nvSpPr>
          <p:cNvPr id="48" name="chip L3/L4"/>
          <p:cNvSpPr/>
          <p:nvPr/>
        </p:nvSpPr>
        <p:spPr>
          <a:xfrm>
            <a:off x="2331720" y="406908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49" name="chip label"/>
          <p:cNvSpPr txBox="1"/>
          <p:nvPr/>
        </p:nvSpPr>
        <p:spPr>
          <a:xfrm>
            <a:off x="2331720" y="406908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L3/L4</a:t>
            </a:r>
            <a:endParaRPr lang="en-US" sz="1000" dirty="0"/>
          </a:p>
        </p:txBody>
      </p:sp>
      <p:sp>
        <p:nvSpPr>
          <p:cNvPr id="50" name="text"/>
          <p:cNvSpPr txBox="1"/>
          <p:nvPr/>
        </p:nvSpPr>
        <p:spPr>
          <a:xfrm>
            <a:off x="73152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NAT и провайдер</a:t>
            </a:r>
            <a:endParaRPr lang="en-US" sz="1400" dirty="0"/>
          </a:p>
        </p:txBody>
      </p:sp>
      <p:sp>
        <p:nvSpPr>
          <p:cNvPr id="51" name="text"/>
          <p:cNvSpPr txBox="1"/>
          <p:nvPr/>
        </p:nvSpPr>
        <p:spPr>
          <a:xfrm>
            <a:off x="7315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роутер подменяет адрес, отдаёт в сеть провайдера</a:t>
            </a:r>
            <a:endParaRPr lang="en-US" sz="1100" dirty="0"/>
          </a:p>
        </p:txBody>
      </p:sp>
      <p:sp>
        <p:nvSpPr>
          <p:cNvPr id="52" name="arrow"/>
          <p:cNvSpPr/>
          <p:nvPr/>
        </p:nvSpPr>
        <p:spPr>
          <a:xfrm>
            <a:off x="3218688" y="4892040"/>
            <a:ext cx="146304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53" name="card"/>
          <p:cNvSpPr/>
          <p:nvPr/>
        </p:nvSpPr>
        <p:spPr>
          <a:xfrm>
            <a:off x="338328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54" name="step number"/>
          <p:cNvSpPr/>
          <p:nvPr/>
        </p:nvSpPr>
        <p:spPr>
          <a:xfrm>
            <a:off x="3566160" y="4023360"/>
            <a:ext cx="502920" cy="502920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55" name="text"/>
          <p:cNvSpPr txBox="1"/>
          <p:nvPr/>
        </p:nvSpPr>
        <p:spPr>
          <a:xfrm>
            <a:off x="35661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6</a:t>
            </a:r>
            <a:endParaRPr lang="en-US" sz="1600" dirty="0"/>
          </a:p>
        </p:txBody>
      </p:sp>
      <p:sp>
        <p:nvSpPr>
          <p:cNvPr id="56" name="chip L3"/>
          <p:cNvSpPr/>
          <p:nvPr/>
        </p:nvSpPr>
        <p:spPr>
          <a:xfrm>
            <a:off x="5166360" y="406908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57" name="chip label"/>
          <p:cNvSpPr txBox="1"/>
          <p:nvPr/>
        </p:nvSpPr>
        <p:spPr>
          <a:xfrm>
            <a:off x="5166360" y="406908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L3</a:t>
            </a:r>
            <a:endParaRPr lang="en-US" sz="1000" dirty="0"/>
          </a:p>
        </p:txBody>
      </p:sp>
      <p:sp>
        <p:nvSpPr>
          <p:cNvPr id="58" name="text"/>
          <p:cNvSpPr txBox="1"/>
          <p:nvPr/>
        </p:nvSpPr>
        <p:spPr>
          <a:xfrm>
            <a:off x="356616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BGP-путь</a:t>
            </a:r>
            <a:endParaRPr lang="en-US" sz="1400" dirty="0"/>
          </a:p>
        </p:txBody>
      </p:sp>
      <p:sp>
        <p:nvSpPr>
          <p:cNvPr id="59" name="text"/>
          <p:cNvSpPr txBox="1"/>
          <p:nvPr/>
        </p:nvSpPr>
        <p:spPr>
          <a:xfrm>
            <a:off x="356616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10–15 роутеров, 3–5 AS, у каждого своя таблица</a:t>
            </a:r>
            <a:endParaRPr lang="en-US" sz="1100" dirty="0"/>
          </a:p>
        </p:txBody>
      </p:sp>
      <p:sp>
        <p:nvSpPr>
          <p:cNvPr id="60" name="arrow"/>
          <p:cNvSpPr/>
          <p:nvPr/>
        </p:nvSpPr>
        <p:spPr>
          <a:xfrm>
            <a:off x="6053328" y="4892040"/>
            <a:ext cx="146304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61" name="card"/>
          <p:cNvSpPr/>
          <p:nvPr/>
        </p:nvSpPr>
        <p:spPr>
          <a:xfrm>
            <a:off x="621792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62" name="step number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B388FF"/>
          </a:solidFill>
          <a:ln/>
        </p:spPr>
      </p:sp>
      <p:sp>
        <p:nvSpPr>
          <p:cNvPr id="63" name="text"/>
          <p:cNvSpPr txBox="1"/>
          <p:nvPr/>
        </p:nvSpPr>
        <p:spPr>
          <a:xfrm>
            <a:off x="64008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7</a:t>
            </a:r>
            <a:endParaRPr lang="en-US" sz="1600" dirty="0"/>
          </a:p>
        </p:txBody>
      </p:sp>
      <p:sp>
        <p:nvSpPr>
          <p:cNvPr id="64" name="chip L4/L7"/>
          <p:cNvSpPr/>
          <p:nvPr/>
        </p:nvSpPr>
        <p:spPr>
          <a:xfrm>
            <a:off x="8001000" y="406908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65" name="chip label"/>
          <p:cNvSpPr txBox="1"/>
          <p:nvPr/>
        </p:nvSpPr>
        <p:spPr>
          <a:xfrm>
            <a:off x="8001000" y="406908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88FF"/>
                </a:solidFill>
              </a:rPr>
              <a:t>L4/L7</a:t>
            </a:r>
            <a:endParaRPr lang="en-US" sz="1000" dirty="0"/>
          </a:p>
        </p:txBody>
      </p:sp>
      <p:sp>
        <p:nvSpPr>
          <p:cNvPr id="66" name="text"/>
          <p:cNvSpPr txBox="1"/>
          <p:nvPr/>
        </p:nvSpPr>
        <p:spPr>
          <a:xfrm>
            <a:off x="640080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TCP + TLS</a:t>
            </a:r>
            <a:endParaRPr lang="en-US" sz="1400" dirty="0"/>
          </a:p>
        </p:txBody>
      </p:sp>
      <p:sp>
        <p:nvSpPr>
          <p:cNvPr id="67" name="text"/>
          <p:cNvSpPr txBox="1"/>
          <p:nvPr/>
        </p:nvSpPr>
        <p:spPr>
          <a:xfrm>
            <a:off x="640080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рукопожатие на порт 443, шифрование</a:t>
            </a:r>
            <a:endParaRPr lang="en-US" sz="1100" dirty="0"/>
          </a:p>
        </p:txBody>
      </p:sp>
      <p:sp>
        <p:nvSpPr>
          <p:cNvPr id="68" name="arrow"/>
          <p:cNvSpPr/>
          <p:nvPr/>
        </p:nvSpPr>
        <p:spPr>
          <a:xfrm>
            <a:off x="8887968" y="4892040"/>
            <a:ext cx="146304" cy="0"/>
          </a:xfrm>
          <a:prstGeom prst="line">
            <a:avLst/>
          </a:prstGeom>
          <a:noFill/>
          <a:ln w="19050">
            <a:solidFill>
              <a:srgbClr val="A9B4C6"/>
            </a:solidFill>
            <a:prstDash val="solid"/>
            <a:tailEnd type="triangle"/>
          </a:ln>
        </p:spPr>
      </p:sp>
      <p:sp>
        <p:nvSpPr>
          <p:cNvPr id="69" name="card"/>
          <p:cNvSpPr/>
          <p:nvPr/>
        </p:nvSpPr>
        <p:spPr>
          <a:xfrm>
            <a:off x="905256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62238"/>
          </a:solidFill>
          <a:ln/>
        </p:spPr>
      </p:sp>
      <p:sp>
        <p:nvSpPr>
          <p:cNvPr id="70" name="step number"/>
          <p:cNvSpPr/>
          <p:nvPr/>
        </p:nvSpPr>
        <p:spPr>
          <a:xfrm>
            <a:off x="9235440" y="402336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71" name="text"/>
          <p:cNvSpPr txBox="1"/>
          <p:nvPr/>
        </p:nvSpPr>
        <p:spPr>
          <a:xfrm>
            <a:off x="92354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8</a:t>
            </a:r>
            <a:endParaRPr lang="en-US" sz="1600" dirty="0"/>
          </a:p>
        </p:txBody>
      </p:sp>
      <p:sp>
        <p:nvSpPr>
          <p:cNvPr id="72" name="chip L7"/>
          <p:cNvSpPr/>
          <p:nvPr/>
        </p:nvSpPr>
        <p:spPr>
          <a:xfrm>
            <a:off x="10835640" y="406908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73" name="chip label"/>
          <p:cNvSpPr txBox="1"/>
          <p:nvPr/>
        </p:nvSpPr>
        <p:spPr>
          <a:xfrm>
            <a:off x="10835640" y="4069080"/>
            <a:ext cx="685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3D"/>
                </a:solidFill>
              </a:rPr>
              <a:t>L7</a:t>
            </a:r>
            <a:endParaRPr lang="en-US" sz="1000" dirty="0"/>
          </a:p>
        </p:txBody>
      </p:sp>
      <p:sp>
        <p:nvSpPr>
          <p:cNvPr id="74" name="text"/>
          <p:cNvSpPr txBox="1"/>
          <p:nvPr/>
        </p:nvSpPr>
        <p:spPr>
          <a:xfrm>
            <a:off x="9235440" y="4663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HTTP</a:t>
            </a:r>
            <a:endParaRPr lang="en-US" sz="1400" dirty="0"/>
          </a:p>
        </p:txBody>
      </p:sp>
      <p:sp>
        <p:nvSpPr>
          <p:cNvPr id="75" name="text"/>
          <p:cNvSpPr txBox="1"/>
          <p:nvPr/>
        </p:nvSpPr>
        <p:spPr>
          <a:xfrm>
            <a:off x="923544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GET /watch… → HTML, видео, 1500 байт за раз</a:t>
            </a:r>
            <a:endParaRPr lang="en-US" sz="1100" dirty="0"/>
          </a:p>
        </p:txBody>
      </p:sp>
      <p:sp>
        <p:nvSpPr>
          <p:cNvPr id="76" name="text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И всё это — за 200 миллисекунд. Потом то же самое в обратную сторону, для каждого из сотен пакетов видео.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Картина целиком</a:t>
            </a:r>
            <a:endParaRPr lang="en-US" sz="3000" dirty="0"/>
          </a:p>
        </p:txBody>
      </p:sp>
      <p:graphicFrame>
        <p:nvGraphicFramePr>
          <p:cNvPr id="45" name="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920240"/>
                <a:gridCol w="2194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4C6"/>
                          </a:solidFill>
                        </a:rPr>
                        <a:t>Уровень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4C6"/>
                          </a:solidFill>
                        </a:rPr>
                        <a:t>Единица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4C6"/>
                          </a:solidFill>
                        </a:rPr>
                        <a:t>Адрес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4C6"/>
                          </a:solidFill>
                        </a:rPr>
                        <a:t>Железка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B4C6"/>
                          </a:solidFill>
                        </a:rPr>
                        <a:t>Какую боль решает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Физический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биты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кабель, оптика, хаб, Wi-Fi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вообще передать сигнал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E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Канальный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кадр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коммутатор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кому в этой комнате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A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Сетевой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пакет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маршрутизатор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где в мире, каким путём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38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Транспортный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сегмент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порт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твоя ОС (TCP/UDP)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какому приложению, дошло ли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8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L5–L7 Прикладной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данные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имя, URL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браузер, сервер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всё это значит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548640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77240" y="54864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Главное: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каждый уровень смотрит только на свой заголовок и ничего не знает о соседях. Поэтому Wi-Fi можно заменить на кабель, IPv4 на IPv6, HTTP на игру — и остальное не трогать.</a:t>
            </a:r>
            <a:endParaRPr lang="en-US" sz="1250" dirty="0"/>
          </a:p>
        </p:txBody>
      </p:sp>
      <p:sp>
        <p:nvSpPr>
          <p:cNvPr id="7" name="meme samepicture frame"/>
          <p:cNvSpPr/>
          <p:nvPr/>
        </p:nvSpPr>
        <p:spPr>
          <a:xfrm>
            <a:off x="8705088" y="1399951"/>
            <a:ext cx="3072384" cy="3418018"/>
          </a:xfrm>
          <a:prstGeom prst="roundRect">
            <a:avLst>
              <a:gd name="adj" fmla="val 2976"/>
            </a:avLst>
          </a:prstGeom>
          <a:solidFill>
            <a:srgbClr val="1E2A44"/>
          </a:solidFill>
          <a:ln/>
        </p:spPr>
      </p:sp>
      <p:pic>
        <p:nvPicPr>
          <p:cNvPr id="8" name="meme samepicture" descr="/tmp/claude-0/-home-user-isp/fa3229ae-4615-5662-80eb-d4b94fff89c7/scratchpad/memes_out/samepi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73103"/>
            <a:ext cx="2926080" cy="3271714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778240" y="4937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OSI (7 уровней) и TCP/IP (4) — две модели одного и того же. В реальной жизни говорят «L2», «L3», «L4» и «приложение».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Матрёшка: инкапсуляция</a:t>
            </a:r>
            <a:endParaRPr lang="en-US" sz="3000" dirty="0"/>
          </a:p>
        </p:txBody>
      </p:sp>
      <p:sp>
        <p:nvSpPr>
          <p:cNvPr id="4" name="layer L2"/>
          <p:cNvSpPr/>
          <p:nvPr/>
        </p:nvSpPr>
        <p:spPr>
          <a:xfrm>
            <a:off x="548640" y="146304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0F2A24"/>
          </a:solidFill>
          <a:ln w="19050">
            <a:solidFill>
              <a:srgbClr val="2EE6A6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731520" y="1554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E6A6"/>
                </a:solidFill>
              </a:rPr>
              <a:t>L2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Кадр Ethernet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MAC получателя · MAC отправителя</a:t>
            </a:r>
            <a:endParaRPr lang="en-US" sz="1300" dirty="0"/>
          </a:p>
        </p:txBody>
      </p:sp>
      <p:sp>
        <p:nvSpPr>
          <p:cNvPr id="6" name="layer L3"/>
          <p:cNvSpPr/>
          <p:nvPr/>
        </p:nvSpPr>
        <p:spPr>
          <a:xfrm>
            <a:off x="960120" y="2240280"/>
            <a:ext cx="5943600" cy="3108960"/>
          </a:xfrm>
          <a:prstGeom prst="roundRect">
            <a:avLst>
              <a:gd name="adj" fmla="val 2941"/>
            </a:avLst>
          </a:prstGeom>
          <a:solidFill>
            <a:srgbClr val="10243A"/>
          </a:solidFill>
          <a:ln w="19050">
            <a:solidFill>
              <a:srgbClr val="5AA9F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1143000" y="2331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A9FF"/>
                </a:solidFill>
              </a:rPr>
              <a:t>L3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Пакет IP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IP получателя · IP отправителя · TTL</a:t>
            </a:r>
            <a:endParaRPr lang="en-US" sz="1300" dirty="0"/>
          </a:p>
        </p:txBody>
      </p:sp>
      <p:sp>
        <p:nvSpPr>
          <p:cNvPr id="8" name="layer L4"/>
          <p:cNvSpPr/>
          <p:nvPr/>
        </p:nvSpPr>
        <p:spPr>
          <a:xfrm>
            <a:off x="1371600" y="301752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1E1A3A"/>
          </a:solidFill>
          <a:ln w="19050">
            <a:solidFill>
              <a:srgbClr val="B388FF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1554480" y="3108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88FF"/>
                </a:solidFill>
              </a:rPr>
              <a:t>L4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Сегмент TCP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порты · номер байта · ACK</a:t>
            </a:r>
            <a:endParaRPr lang="en-US" sz="1300" dirty="0"/>
          </a:p>
        </p:txBody>
      </p:sp>
      <p:sp>
        <p:nvSpPr>
          <p:cNvPr id="10" name="layer L7"/>
          <p:cNvSpPr/>
          <p:nvPr/>
        </p:nvSpPr>
        <p:spPr>
          <a:xfrm>
            <a:off x="1783080" y="3794760"/>
            <a:ext cx="4297680" cy="0"/>
          </a:xfrm>
          <a:prstGeom prst="roundRect">
            <a:avLst>
              <a:gd name="adj" fmla="val Infinity"/>
            </a:avLst>
          </a:prstGeom>
          <a:solidFill>
            <a:srgbClr val="2A1E12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196596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</a:rPr>
              <a:t>L7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Данные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GET /watch?v=… HTTP/1.1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548640" y="6217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↓ отправка: каждый уровень заворачивает в свой конверт       ↑ приём: каждый снимает свой</a:t>
            </a:r>
            <a:endParaRPr lang="en-US" sz="1100" dirty="0"/>
          </a:p>
        </p:txBody>
      </p:sp>
      <p:sp>
        <p:nvSpPr>
          <p:cNvPr id="13" name="bullets"/>
          <p:cNvSpPr txBox="1"/>
          <p:nvPr/>
        </p:nvSpPr>
        <p:spPr>
          <a:xfrm>
            <a:off x="7589520" y="146304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</a:rPr>
              <a:t>Коммутатор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вскрывает только внешний конверт (MAC). Что внутри — ему всё равно.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4"/>
                </a:solidFill>
              </a:rPr>
              <a:t>Роутер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снимает кадр, читает IP, кладёт пакет в новый кадр. В TCP не заглядывает.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5"/>
                </a:solidFill>
              </a:rPr>
              <a:t>Твоя ОС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читает порт и отдаёт данные нужной программе.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6"/>
                </a:solidFill>
              </a:rPr>
              <a:t>Браузер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видит только HTML. Он понятия не имеет, что был какой-то MAC.</a:t>
            </a:r>
            <a:endParaRPr lang="en-US" sz="1200" dirty="0"/>
          </a:p>
        </p:txBody>
      </p:sp>
      <p:sp>
        <p:nvSpPr>
          <p:cNvPr id="14" name="meme scroll frame"/>
          <p:cNvSpPr/>
          <p:nvPr/>
        </p:nvSpPr>
        <p:spPr>
          <a:xfrm>
            <a:off x="8105993" y="3401568"/>
            <a:ext cx="3081854" cy="2980944"/>
          </a:xfrm>
          <a:prstGeom prst="roundRect">
            <a:avLst>
              <a:gd name="adj" fmla="val 3067"/>
            </a:avLst>
          </a:prstGeom>
          <a:solidFill>
            <a:srgbClr val="1E2A44"/>
          </a:solidFill>
          <a:ln/>
        </p:spPr>
      </p:sp>
      <p:pic>
        <p:nvPicPr>
          <p:cNvPr id="15" name="meme scroll" descr="/tmp/claude-0/-home-user-isp/fa3229ae-4615-5662-80eb-d4b94fff89c7/scratchpad/memes_out/scro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145" y="3474720"/>
            <a:ext cx="2935550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Зачем столько протоколов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5" name="text"/>
          <p:cNvSpPr txBox="1"/>
          <p:nvPr/>
        </p:nvSpPr>
        <p:spPr>
          <a:xfrm>
            <a:off x="73152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E6A6"/>
                </a:solidFill>
              </a:rPr>
              <a:t>ARP</a:t>
            </a:r>
            <a:endParaRPr lang="en-US" sz="1800" dirty="0"/>
          </a:p>
        </p:txBody>
      </p:sp>
      <p:sp>
        <p:nvSpPr>
          <p:cNvPr id="6" name="text"/>
          <p:cNvSpPr txBox="1"/>
          <p:nvPr/>
        </p:nvSpPr>
        <p:spPr>
          <a:xfrm>
            <a:off x="73152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знаю IP — нужен MAC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383280" y="14630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E6A6"/>
                </a:solidFill>
              </a:rPr>
              <a:t>DHCP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35661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выдать адрес автоматически, а не руками каждому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217920" y="14630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11" name="text"/>
          <p:cNvSpPr txBox="1"/>
          <p:nvPr/>
        </p:nvSpPr>
        <p:spPr>
          <a:xfrm>
            <a:off x="64008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E6A6"/>
                </a:solidFill>
              </a:rPr>
              <a:t>STP</a:t>
            </a:r>
            <a:endParaRPr lang="en-US" sz="1800" dirty="0"/>
          </a:p>
        </p:txBody>
      </p:sp>
      <p:sp>
        <p:nvSpPr>
          <p:cNvPr id="12" name="text"/>
          <p:cNvSpPr txBox="1"/>
          <p:nvPr/>
        </p:nvSpPr>
        <p:spPr>
          <a:xfrm>
            <a:off x="640080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два кабеля между коммутаторами — петля и шторм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9052560" y="146304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923544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E6A6"/>
                </a:solidFill>
              </a:rPr>
              <a:t>VLAN</a:t>
            </a:r>
            <a:endParaRPr lang="en-US" sz="1800" dirty="0"/>
          </a:p>
        </p:txBody>
      </p:sp>
      <p:sp>
        <p:nvSpPr>
          <p:cNvPr id="15" name="text"/>
          <p:cNvSpPr txBox="1"/>
          <p:nvPr/>
        </p:nvSpPr>
        <p:spPr>
          <a:xfrm>
            <a:off x="923544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разделить один коммутатор на несколько «комнат»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48640" y="32461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17" name="text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</a:rPr>
              <a:t>DNS</a:t>
            </a:r>
            <a:endParaRPr lang="en-US" sz="1800" dirty="0"/>
          </a:p>
        </p:txBody>
      </p:sp>
      <p:sp>
        <p:nvSpPr>
          <p:cNvPr id="18" name="text"/>
          <p:cNvSpPr txBox="1"/>
          <p:nvPr/>
        </p:nvSpPr>
        <p:spPr>
          <a:xfrm>
            <a:off x="73152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имя → число; люди не помнят 142.250.74.46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3383280" y="32461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A9FF"/>
                </a:solidFill>
              </a:rPr>
              <a:t>NAT</a:t>
            </a:r>
            <a:endParaRPr lang="en-US" sz="1800" dirty="0"/>
          </a:p>
        </p:txBody>
      </p:sp>
      <p:sp>
        <p:nvSpPr>
          <p:cNvPr id="21" name="text"/>
          <p:cNvSpPr txBox="1"/>
          <p:nvPr/>
        </p:nvSpPr>
        <p:spPr>
          <a:xfrm>
            <a:off x="356616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белых адресов 4 млрд, устройств больше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6217920" y="32461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23" name="text"/>
          <p:cNvSpPr txBox="1"/>
          <p:nvPr/>
        </p:nvSpPr>
        <p:spPr>
          <a:xfrm>
            <a:off x="64008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A9FF"/>
                </a:solidFill>
              </a:rPr>
              <a:t>OSPF / BGP</a:t>
            </a:r>
            <a:endParaRPr lang="en-US" sz="1800" dirty="0"/>
          </a:p>
        </p:txBody>
      </p:sp>
      <p:sp>
        <p:nvSpPr>
          <p:cNvPr id="24" name="text"/>
          <p:cNvSpPr txBox="1"/>
          <p:nvPr/>
        </p:nvSpPr>
        <p:spPr>
          <a:xfrm>
            <a:off x="640080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маршруты сами, а не руками; обход аварий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9052560" y="324612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162238"/>
          </a:solidFill>
          <a:ln/>
        </p:spPr>
      </p:sp>
      <p:sp>
        <p:nvSpPr>
          <p:cNvPr id="26" name="text"/>
          <p:cNvSpPr txBox="1"/>
          <p:nvPr/>
        </p:nvSpPr>
        <p:spPr>
          <a:xfrm>
            <a:off x="92354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388FF"/>
                </a:solidFill>
              </a:rPr>
              <a:t>TLS</a:t>
            </a:r>
            <a:endParaRPr lang="en-US" sz="1800" dirty="0"/>
          </a:p>
        </p:txBody>
      </p:sp>
      <p:sp>
        <p:nvSpPr>
          <p:cNvPr id="27" name="text"/>
          <p:cNvSpPr txBox="1"/>
          <p:nvPr/>
        </p:nvSpPr>
        <p:spPr>
          <a:xfrm>
            <a:off x="9235440" y="3886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чтобы провайдер и сосед по Wi-Fi не читали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0F2A24"/>
          </a:solidFill>
          <a:ln w="12700">
            <a:solidFill>
              <a:srgbClr val="2EE6A6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777240" y="5120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Итог: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каждый протокол — ответ на «а что, если…». Вот почему их так много — и вот почему это не магия. Когда появится новая проблема, появится и новый протокол (привет, QUIC и IPv6).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Наш проект: свой провайдер в DN42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6766560" cy="1463040"/>
          </a:xfrm>
          <a:prstGeom prst="roundRect">
            <a:avLst>
              <a:gd name="adj" fmla="val 7500"/>
            </a:avLst>
          </a:prstGeom>
          <a:solidFill>
            <a:srgbClr val="10243A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777240" y="15544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Что такое DN42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1920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Закрытая сеть энтузиастов поверх интернета: настоящие BGP, автономные системы и диапазоны адресов — но без риска положить реальный интернет. Наш AS — 4242421527 (NEBOTOV-MNT), сеть уже регистрируется в репозитории goldendeals/isp.</a:t>
            </a:r>
            <a:endParaRPr lang="en-US" sz="1250" dirty="0"/>
          </a:p>
        </p:txBody>
      </p:sp>
      <p:sp>
        <p:nvSpPr>
          <p:cNvPr id="7" name="step"/>
          <p:cNvSpPr/>
          <p:nvPr/>
        </p:nvSpPr>
        <p:spPr>
          <a:xfrm>
            <a:off x="548640" y="3182112"/>
            <a:ext cx="548640" cy="548640"/>
          </a:xfrm>
          <a:prstGeom prst="ellipse">
            <a:avLst/>
          </a:prstGeom>
          <a:solidFill>
            <a:srgbClr val="2EE6A6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54864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280160" y="3108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Лаба в Packet Tracer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280160" y="3429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два ПК + коммутатор → VLAN → роутер + статика. Повторяем части 0–3 linkmeup своими руками.</a:t>
            </a:r>
            <a:endParaRPr lang="en-US" sz="1100" dirty="0"/>
          </a:p>
        </p:txBody>
      </p:sp>
      <p:sp>
        <p:nvSpPr>
          <p:cNvPr id="11" name="step"/>
          <p:cNvSpPr/>
          <p:nvPr/>
        </p:nvSpPr>
        <p:spPr>
          <a:xfrm>
            <a:off x="548640" y="3986784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"/>
          <p:cNvSpPr txBox="1"/>
          <p:nvPr/>
        </p:nvSpPr>
        <p:spPr>
          <a:xfrm>
            <a:off x="548640" y="3986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"/>
          <p:cNvSpPr txBox="1"/>
          <p:nvPr/>
        </p:nvSpPr>
        <p:spPr>
          <a:xfrm>
            <a:off x="1280160" y="3913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Две VPS + туннель WireGuard</a:t>
            </a:r>
            <a:endParaRPr lang="en-US" sz="1400" dirty="0"/>
          </a:p>
        </p:txBody>
      </p:sp>
      <p:sp>
        <p:nvSpPr>
          <p:cNvPr id="14" name="text"/>
          <p:cNvSpPr txBox="1"/>
          <p:nvPr/>
        </p:nvSpPr>
        <p:spPr>
          <a:xfrm>
            <a:off x="128016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своя «магистраль» между городами. Терминал, Linux, настоящие интерфейсы и таблицы маршрутизации.</a:t>
            </a:r>
            <a:endParaRPr lang="en-US" sz="1100" dirty="0"/>
          </a:p>
        </p:txBody>
      </p:sp>
      <p:sp>
        <p:nvSpPr>
          <p:cNvPr id="15" name="step"/>
          <p:cNvSpPr/>
          <p:nvPr/>
        </p:nvSpPr>
        <p:spPr>
          <a:xfrm>
            <a:off x="548640" y="4791456"/>
            <a:ext cx="548640" cy="548640"/>
          </a:xfrm>
          <a:prstGeom prst="ellipse">
            <a:avLst/>
          </a:prstGeom>
          <a:solidFill>
            <a:srgbClr val="5AA9FF"/>
          </a:solidFill>
          <a:ln/>
        </p:spPr>
      </p:sp>
      <p:sp>
        <p:nvSpPr>
          <p:cNvPr id="16" name="text"/>
          <p:cNvSpPr txBox="1"/>
          <p:nvPr/>
        </p:nvSpPr>
        <p:spPr>
          <a:xfrm>
            <a:off x="548640" y="4791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"/>
          <p:cNvSpPr txBox="1"/>
          <p:nvPr/>
        </p:nvSpPr>
        <p:spPr>
          <a:xfrm>
            <a:off x="1280160" y="471830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OSPF внутри, BGP наружу</a:t>
            </a:r>
            <a:endParaRPr lang="en-US" sz="1400" dirty="0"/>
          </a:p>
        </p:txBody>
      </p:sp>
      <p:sp>
        <p:nvSpPr>
          <p:cNvPr id="18" name="text"/>
          <p:cNvSpPr txBox="1"/>
          <p:nvPr/>
        </p:nvSpPr>
        <p:spPr>
          <a:xfrm>
            <a:off x="1280160" y="50383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динамика между нашими узлами, пиринг с соседями по DN42. Тот самый BGP, на котором держится интернет.</a:t>
            </a:r>
            <a:endParaRPr lang="en-US" sz="1100" dirty="0"/>
          </a:p>
        </p:txBody>
      </p:sp>
      <p:sp>
        <p:nvSpPr>
          <p:cNvPr id="19" name="step"/>
          <p:cNvSpPr/>
          <p:nvPr/>
        </p:nvSpPr>
        <p:spPr>
          <a:xfrm>
            <a:off x="548640" y="5596128"/>
            <a:ext cx="548640" cy="548640"/>
          </a:xfrm>
          <a:prstGeom prst="ellipse">
            <a:avLst/>
          </a:prstGeom>
          <a:solidFill>
            <a:srgbClr val="B388FF"/>
          </a:solidFill>
          <a:ln/>
        </p:spPr>
      </p:sp>
      <p:sp>
        <p:nvSpPr>
          <p:cNvPr id="20" name="text"/>
          <p:cNvSpPr txBox="1"/>
          <p:nvPr/>
        </p:nvSpPr>
        <p:spPr>
          <a:xfrm>
            <a:off x="548640" y="5596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"/>
          <p:cNvSpPr txBox="1"/>
          <p:nvPr/>
        </p:nvSpPr>
        <p:spPr>
          <a:xfrm>
            <a:off x="1280160" y="55229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Свой DNS и сайт внутри DN42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1280160" y="58430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доменное имя, сервер, HTTPS. Потом — IPv6 и мониторинг. Полный стек, сверху донизу.</a:t>
            </a:r>
            <a:endParaRPr lang="en-US" sz="1100" dirty="0"/>
          </a:p>
        </p:txBody>
      </p:sp>
      <p:sp>
        <p:nvSpPr>
          <p:cNvPr id="23" name="meme tradeoffer frame"/>
          <p:cNvSpPr/>
          <p:nvPr/>
        </p:nvSpPr>
        <p:spPr>
          <a:xfrm>
            <a:off x="7823405" y="1344168"/>
            <a:ext cx="3921350" cy="5084064"/>
          </a:xfrm>
          <a:prstGeom prst="roundRect">
            <a:avLst>
              <a:gd name="adj" fmla="val 2332"/>
            </a:avLst>
          </a:prstGeom>
          <a:solidFill>
            <a:srgbClr val="1E2A44"/>
          </a:solidFill>
          <a:ln/>
        </p:spPr>
      </p:sp>
      <p:pic>
        <p:nvPicPr>
          <p:cNvPr id="24" name="meme tradeoffer" descr="/tmp/claude-0/-home-user-isp/fa3229ae-4615-5662-80eb-d4b94fff89c7/scratchpad/memes_out/tradeoff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557" y="1417320"/>
            <a:ext cx="3775046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Домашка на вечер</a:t>
            </a:r>
            <a:endParaRPr lang="en-US" sz="3000" dirty="0"/>
          </a:p>
        </p:txBody>
      </p:sp>
      <p:sp>
        <p:nvSpPr>
          <p:cNvPr id="4" name="code box"/>
          <p:cNvSpPr/>
          <p:nvPr/>
        </p:nvSpPr>
        <p:spPr>
          <a:xfrm>
            <a:off x="548640" y="1463040"/>
            <a:ext cx="6400800" cy="2926080"/>
          </a:xfrm>
          <a:prstGeom prst="roundRect">
            <a:avLst>
              <a:gd name="adj" fmla="val 3125"/>
            </a:avLst>
          </a:prstGeom>
          <a:solidFill>
            <a:srgbClr val="070B1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13232" y="1572768"/>
            <a:ext cx="60716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(cmd / PowerShell)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/all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MAC, IP, маска, шлюз, DNS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 -a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# кого ты уже знаешь по MAC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8.8.8.8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L3 работает?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tracert youtube.com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все роутеры по пути (TTL!)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youtube.com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DNS: имя → IP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print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таблица маршрутизации ноута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B4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 / mac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 · ip neigh · ip route · traceroute · dig</a:t>
            </a:r>
            <a:endParaRPr lang="en-US" sz="1150" dirty="0"/>
          </a:p>
        </p:txBody>
      </p:sp>
      <p:sp>
        <p:nvSpPr>
          <p:cNvPr id="6" name="text"/>
          <p:cNvSpPr txBox="1"/>
          <p:nvPr/>
        </p:nvSpPr>
        <p:spPr>
          <a:xfrm>
            <a:off x="548640" y="4617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 Найди свои MAC, IP, маску и шлюз —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 объясни, что каждое из них значит, одним предложением.</a:t>
            </a:r>
            <a:endParaRPr lang="en-US" sz="12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5166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2. tracert до youtube.com —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посчитай роутеры. Найди, где кончается твой провайдер.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548640" y="5715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3. Wireshark: пингани роутер —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найди ARP-запрос и ICMP-пакет. Открой кадр и покажи, где MAC, где IP.</a:t>
            </a:r>
            <a:endParaRPr lang="en-US" sz="1200" dirty="0"/>
          </a:p>
        </p:txBody>
      </p:sp>
      <p:sp>
        <p:nvSpPr>
          <p:cNvPr id="9" name="meme uno frame"/>
          <p:cNvSpPr/>
          <p:nvPr/>
        </p:nvSpPr>
        <p:spPr>
          <a:xfrm>
            <a:off x="7516368" y="1735646"/>
            <a:ext cx="4261104" cy="4209669"/>
          </a:xfrm>
          <a:prstGeom prst="roundRect">
            <a:avLst>
              <a:gd name="adj" fmla="val 2172"/>
            </a:avLst>
          </a:prstGeom>
          <a:solidFill>
            <a:srgbClr val="1E2A44"/>
          </a:solidFill>
          <a:ln/>
        </p:spPr>
      </p:sp>
      <p:pic>
        <p:nvPicPr>
          <p:cNvPr id="10" name="meme uno" descr="/tmp/claude-0/-home-user-isp/fa3229ae-4615-5662-80eb-d4b94fff89c7/scratchpad/memes_out/un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08798"/>
            <a:ext cx="4114800" cy="40633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Сети — это не магия</a:t>
            </a:r>
            <a:endParaRPr lang="en-US" sz="3000" dirty="0"/>
          </a:p>
        </p:txBody>
      </p:sp>
      <p:sp>
        <p:nvSpPr>
          <p:cNvPr id="4" name="meme gusfring frame"/>
          <p:cNvSpPr/>
          <p:nvPr/>
        </p:nvSpPr>
        <p:spPr>
          <a:xfrm>
            <a:off x="607133" y="1344168"/>
            <a:ext cx="3540614" cy="4992624"/>
          </a:xfrm>
          <a:prstGeom prst="roundRect">
            <a:avLst>
              <a:gd name="adj" fmla="val 2583"/>
            </a:avLst>
          </a:prstGeom>
          <a:solidFill>
            <a:srgbClr val="1E2A44"/>
          </a:solidFill>
          <a:ln/>
        </p:spPr>
      </p:sp>
      <p:pic>
        <p:nvPicPr>
          <p:cNvPr id="5" name="meme gusfring" descr="/tmp/claude-0/-home-user-isp/fa3229ae-4615-5662-80eb-d4b94fff89c7/scratchpad/memes_out/gusfr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285" y="1417320"/>
            <a:ext cx="3394310" cy="484632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4663440" y="150876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</a:rPr>
              <a:t>Это цепочка «а что, если…», и у каждого звена есть причина.</a:t>
            </a:r>
            <a:endParaRPr lang="en-US" sz="2400" dirty="0"/>
          </a:p>
        </p:txBody>
      </p:sp>
      <p:sp>
        <p:nvSpPr>
          <p:cNvPr id="7" name="text"/>
          <p:cNvSpPr txBox="1"/>
          <p:nvPr/>
        </p:nvSpPr>
        <p:spPr>
          <a:xfrm>
            <a:off x="4663440" y="278892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Две железки → провод → хаб → адреса → коммутатор → «а где?» → IP → роутер → «а какому приложению?» → порты → «а дошло ли?» → TCP → «а как зовут?» → DNS. Ты уже знаешь всё это. Осталось потрогать руками.</a:t>
            </a:r>
            <a:endParaRPr lang="en-US" sz="1350" dirty="0"/>
          </a:p>
        </p:txBody>
      </p:sp>
      <p:sp>
        <p:nvSpPr>
          <p:cNvPr id="8" name="text"/>
          <p:cNvSpPr txBox="1"/>
          <p:nvPr/>
        </p:nvSpPr>
        <p:spPr>
          <a:xfrm>
            <a:off x="4663440" y="44348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linkmeup.gitbook.io/sdsm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 «Сети для самых маленьких» — главный учебник, бесплатно</a:t>
            </a:r>
            <a:endParaRPr lang="en-US" sz="1250" dirty="0"/>
          </a:p>
        </p:txBody>
      </p:sp>
      <p:sp>
        <p:nvSpPr>
          <p:cNvPr id="9" name="text"/>
          <p:cNvSpPr txBox="1"/>
          <p:nvPr/>
        </p:nvSpPr>
        <p:spPr>
          <a:xfrm>
            <a:off x="4663440" y="4892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netacad.com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 Cisco Networking Basics — то, что ты уже проходишь</a:t>
            </a:r>
            <a:endParaRPr lang="en-US" sz="1250" dirty="0"/>
          </a:p>
        </p:txBody>
      </p:sp>
      <p:sp>
        <p:nvSpPr>
          <p:cNvPr id="10" name="text"/>
          <p:cNvSpPr txBox="1"/>
          <p:nvPr/>
        </p:nvSpPr>
        <p:spPr>
          <a:xfrm>
            <a:off x="4663440" y="53492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dn42.dev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 как устроена сеть DN42 и как в ней зарегистрироваться</a:t>
            </a:r>
            <a:endParaRPr lang="en-US" sz="1250" dirty="0"/>
          </a:p>
        </p:txBody>
      </p:sp>
      <p:sp>
        <p:nvSpPr>
          <p:cNvPr id="11" name="text"/>
          <p:cNvSpPr txBox="1"/>
          <p:nvPr/>
        </p:nvSpPr>
        <p:spPr>
          <a:xfrm>
            <a:off x="4663440" y="5806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github.com/goldendeals/isp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 наш репозиторий: инфраструктура провайдера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Источники и фото</a:t>
            </a:r>
            <a:endParaRPr lang="en-US" sz="30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Фотографии: Wikimedia Commons</a:t>
            </a:r>
            <a:endParaRPr lang="en-US" sz="1300" dirty="0"/>
          </a:p>
        </p:txBody>
      </p:sp>
      <p:sp>
        <p:nvSpPr>
          <p:cNvPr id="5" name="credits"/>
          <p:cNvSpPr txBox="1"/>
          <p:nvPr/>
        </p:nvSpPr>
        <p:spPr>
          <a:xfrm>
            <a:off x="548640" y="173736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19-inch rackmount Ethernet switches and patch panels.jpg — Dsimic, CC BY-SA 4.0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Network utp unshielded twisted pair cable.jpg — Leon Brooks, Public domain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EthernetCableGreen2.jpg — Raysonho @ Open Grid Scheduler / Grid En, CC0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RJ-45 Ethernet socket on Lenovo T410 Laptop (cropped2).jpg — Pittigrilli, CC BY-SA 4.0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Optical fiber connectors-optical patch cable-01ASD.jpg — Asurnipal, CC BY-SA 4.0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TP-Link TL-WR740N router HS2.jpg — Hayden Schiff, CC BY 4.0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Netgear DS108 Hub.jpg — www.heimnetzwerke.net, CC BY 4.0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EverFocus Electronics MAC address barcode stickers 20170320.jpg — Solomon203, CC BY-SA 4.0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Network card.jpg — ?, CC BY-SA 3.0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100basefx ports on a cisco 2950 switch.JPG — Pmauduit, CC BY-SA 3.0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Kabelgewirr (10564703354).jpg — Dirk Vorderstraße, CC BY 2.0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Cisco 2800 series router (1).jpg — Robert, CC BY 2.0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Internet map 1024 - transparent, inverted.png — The Opte Project, CC BY 2.5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Cisco Nexus 7700 switches (1).jpg — Patrick Finnegan, CC BY 2.0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DE-CIX GERMANY - Switch Rack (6218137120).jpg — Stefan Funke from Frankfurt, Germany, CC BY-SA 2.0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AMS-IX optical patch panel.jpg — Fabienne Serriere, CC BY-SA 3.0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Screenshots of the Wireshark interface, showing captured packets data - ICMP.png — Oluwatobi TJ, CC0</a:t>
            </a:r>
            <a:endParaRPr lang="en-US" sz="900" dirty="0"/>
          </a:p>
        </p:txBody>
      </p:sp>
      <p:sp>
        <p:nvSpPr>
          <p:cNvPr id="6" name="text"/>
          <p:cNvSpPr txBox="1"/>
          <p:nvPr/>
        </p:nvSpPr>
        <p:spPr>
          <a:xfrm>
            <a:off x="78638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Текст и структура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7863840" y="17373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Вдохновлено курсом «Сети для самых маленьких» (linkmeup.ru, Марат Сибгатулин и соавторы): сюжет «Лифт ми Ап», адресный план, цитаты про широковещательный домен, TTL и путь пакета.</a:t>
            </a:r>
            <a:endParaRPr lang="en-US" sz="1050" dirty="0"/>
          </a:p>
        </p:txBody>
      </p:sp>
      <p:sp>
        <p:nvSpPr>
          <p:cNvPr id="8" name="text"/>
          <p:cNvSpPr txBox="1"/>
          <p:nvPr/>
        </p:nvSpPr>
        <p:spPr>
          <a:xfrm>
            <a:off x="786384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Мемы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7863840" y="3931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Шаблоны — imgflip.com (популярные мем-шаблоны), подписи на русском — наши. Используются в образовательных целях.</a:t>
            </a:r>
            <a:endParaRPr lang="en-US" sz="1050" dirty="0"/>
          </a:p>
        </p:txBody>
      </p:sp>
      <p:sp>
        <p:nvSpPr>
          <p:cNvPr id="10" name="text"/>
          <p:cNvSpPr txBox="1"/>
          <p:nvPr/>
        </p:nvSpPr>
        <p:spPr>
          <a:xfrm>
            <a:off x="786384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Данные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7863840" y="5486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Число автономных систем, портов и хопов — округлённые ориентиры на 2025–2026 годы, не точные цифры.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ti bez magii">
  <a:themeElements>
    <a:clrScheme name="Seti bez magii">
      <a:dk1>
        <a:srgbClr val="F1F5F9"/>
      </a:dk1>
      <a:lt1>
        <a:srgbClr val="0B1220"/>
      </a:lt1>
      <a:dk2>
        <a:srgbClr val="A9B4C6"/>
      </a:dk2>
      <a:lt2>
        <a:srgbClr val="162238"/>
      </a:lt2>
      <a:accent1>
        <a:srgbClr val="2EE6A6"/>
      </a:accent1>
      <a:accent2>
        <a:srgbClr val="FFB020"/>
      </a:accent2>
      <a:accent3>
        <a:srgbClr val="FF4D6D"/>
      </a:accent3>
      <a:accent4>
        <a:srgbClr val="5AA9FF"/>
      </a:accent4>
      <a:accent5>
        <a:srgbClr val="B388FF"/>
      </a:accent5>
      <a:accent6>
        <a:srgbClr val="FF8A3D"/>
      </a:accent6>
      <a:hlink>
        <a:srgbClr val="5AA9FF"/>
      </a:hlink>
      <a:folHlink>
        <a:srgbClr val="B388FF"/>
      </a:folHlink>
    </a:clrScheme>
    <a:fontScheme name="Seti bez magi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без магии</dc:title>
  <dc:subject>PptxGenJS Presentation</dc:subject>
  <dc:creator>Networking basics for a friend</dc:creator>
  <cp:lastModifiedBy>Networking basics for a friend</cp:lastModifiedBy>
  <cp:revision>1</cp:revision>
  <dcterms:created xsi:type="dcterms:W3CDTF">2026-10-03T08:19:48Z</dcterms:created>
  <dcterms:modified xsi:type="dcterms:W3CDTF">2026-10-03T08:19:48Z</dcterms:modified>
</cp:coreProperties>
</file>